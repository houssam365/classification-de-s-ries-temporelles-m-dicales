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6"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1301" y="41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3534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Nous allons vous présenter notre projet : classer automatiquement des battements cardiaques sur des ECG pour détecter des arythmies. L’enjeu est double. D’un côté, une bonne performance de prédiction, parce que nous sommes dans un contexte médical. De l’autre, la possibilité d’expliquer les décisions du modèle, pour qu’un clinicien puisse les valider. Nous avons travaillé sur la base MIT-BIH. Notre démarche n’est pas de présenter un seul modèle final, mais un parcours : on part d’une baseline simple, on mesure précisément ses limites, puis on choisit le modèle suivant pour corriger ces limites, en justifiant à chaque étape pourquoi. Le fil de la présentation : les données et ce que leur exploration nous apprend ; les quatre modèles testés, du Random Forest au CNN-LSTM avec attention ; la comparaison des résultats ; puis l’interprétabilité, les limites et la suite. Tous les résultats que vous verrez sont des moyennes sur cinq initialisations aléatoires, mesurées sur des patients que les modèles n’ont jamais vus.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nos données. La base MIT-BIH contient 48 enregistrements d’ECG de 30 minutes, échantillonnés à 360 Hz, avec chaque battement annoté par des cardiologues. Nous avons exclu 4 enregistrements de patients sous stimulateur cardiaque, comme le recommande la norme AAMI, ce qui laisse 44 patients et environ 100 700 battements. Chaque battement est classé dans l’une des 5 classes AAMI : N pour normal, S pour les battements supraventriculaires prématurés, V pour les extrasystoles ventriculaires, F pour les battements de fusion, et Q pour les battements inconnus ou stimulés. Le graphique montre le déséquilibre : environ 90 % de battements N, 7 % de V, 2,8 % de S, 0,8 % de F, et seulement 15 battements Q sur toute la base. Q est donc quasi inutilisable, nous le gardons mais il pèse très peu dans l’évaluation. Le point méthodologique le plus important : le découpage se fait par patient, pas par battement. Nous utilisons le protocole classique de de Chazal, avec un ensemble DS1 pour l’entraînement et la validation et un ensemble DS2 de 22 autres patients pour le test. Un découpage par battement mélangerait les battements d’un même patient entre entraînement et test, et gonflerait artificiellement les scores. La validation est composée de 5 patients de DS1 choisis pour contenir des S, des V et des F. Prétraitement : filtre passe-bande de 0,5 à 40 Hz, normalisation par enregistrement, et une fenêtre de 216 échantillons, soit 0,6 seconde, centrée sur le pic R du battement. Attention, deux caractéristiques des données nous ont beaucoup influencés par la suite : les classes S et F sont concentrées chez très peu de patients. Dans le test, 75 % des S viennent d’un seul enregistrement, le 232, et 362 des 388 F viennent du 213. Dans le train, 372 des 384 F viennent du seul enregistrement 208.</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 modéliser, nous avons regardé les signaux. Le graphique montre, pour chaque classe, le battement moyen avec son écart-type, calculé sur l’ensemble d’entraînement. La zone grise est la fenêtre que nous donnons aux modèles : environ 0,25 seconde avant le pic R et 0,35 seconde après, de quoi voir l’onde P, le complexe QRS et l’onde T. Première observation, sur les battements V, les extrasystoles ventriculaires : le complexe QRS est nettement plus large, environ 131 millisecondes en médiane contre 64 pour un battement normal, et l’onde T est inversée. C’est la signature clinique classique, et la forme seule suffit à les reconnaître. Deuxième observation, sur les battements S : leur forme moyenne est presque identique à celle des battements normaux. Ce qui les distingue, c’est qu’ils arrivent trop tôt. Si on calcule le rapport entre l’intervalle qui précède le battement et la moyenne locale, il vaut environ 0,79 pour S, contre 1,00 pour N. Pour les V, il vaut 0,72, et l’intervalle suivant est plus long, 1,31 : c’est la pause compensatoire. Autrement dit, pour S, l’information est dans le rythme et pas dans la forme. C’est notre hypothèse de départ pour toute la suite. Troisième observation, sur les battements F, les fusions entre un battement normal et un battement ventriculaire : leur forme dépend beaucoup du patient, et dans l’ensemble d’entraînement, 372 des 384 viennent d’un seul enregistrement. Cela annonce que cette classe sera très difficile à généraliser à un nouveau patient. Nous avons aussi vérifié le choix de la fenêtre : le pic R du battement suivant n’y entre que dans 0,28 % des cas, donc la fenêtre ne mélange pas les battements voisins. Les spectrogrammes et les spectres, disponibles dans le dépôt, montrent que les V ont leur énergie dans les basses fréquences, ce qui correspond à un QRS large.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fil conducteur de notre travail. Nous n’avons pas choisi un modèle complexe d’emblée : nous avons construit un escalier de quatre modèles, où chaque marche répond à une limite observée sur la précédente. D’abord le protocole, commun à tous. Un découpage par patient. Cinq initialisations aléatoires pour chaque modèle, avec moyenne et écart-type, parce qu’une seule initialisation ne dit rien de fiable : nous avons vu des écarts de plus de 0,08 de score entre deux seeds d’un même réseau. Et une perte pondérée par classe : le poids de chaque classe est la racine du rapport entre l’effectif de la classe majoritaire et le sien, plafonné à 10, pour que les classes rares comptent sans que la classe Q, qui n’a que 8 exemples d’entraînement, déstabilise l’optimisation. Le choix de la meilleure itération se fait sur la validation, jamais sur le test. Étape 1, le Random Forest sur des caractéristiques calculées à la main : il donne un plancher de référence et indique quelles informations comptent. Sa limite : les classes S et F sont presque invisibles. Étape 2, un CNN 1D qui apprend directement la forme du battement. Sa limite, mesurée : il ne voit pas le rythme, alors que S se distingue par le rythme. Étape 3, nous ajoutons au CNN trois ratios d’intervalles RR relatifs. Sa limite : ce rythme est résumé à la main par des formules fixes, qui sont trompeuses pour certains rythmes alternés. Étape 4, un CNN-LSTM avec attention qui lit une séquence de 9 battements et apprend lui-même à interpréter les intervalles. Sa limite actuelle : une forte variabilité entre les seeds, et la classe F, détectée pour la première fois mais portée par un seul patient. Nous avons volontairement placé le CNN-LSTM avant le ResNet : nos mesures montrent que le goulot d’étranglement est l’information de rythme, pas la capacité du réseau.</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modèle : un Random Forest sur des caractéristiques calculées à la main. Ce modèle est rapide, interprétable, et c’est la baseline demandée par le sujet. Surtout, il nous donne un plancher : si un réseau de neurones ne le bat pas, sa complexité n’est pas justifiée. Architecture, comme le montre le schéma sous le titre. Le Random Forest ne reçoit pas le signal brut mais 28 caractéristiques calculées sur chaque battement : 22 de forme (amplitude du pic R, creux avant et après, pentes, largeur du QRS, aire et énergie du QRS, amplitude des ondes P et T, asymétrie, kurtosis, énergie par bande de fréquence) et 6 de rythme (RR précédent, RR suivant, moyenne locale, et trois rapports entre ces valeurs). La forêt compte 300 arbres, chacun entraîné sur un échantillon bootstrap, avec des poids de classes équilibrés par arbre et au moins 2 exemples par feuille. La prédiction est le vote des arbres. Aucun paramètre n’est appris par gradient. Résultat : un score F1 macro de 0,501, avec un écart-type de seulement 0,002 entre les 5 seeds. Le RF est très stable. La matrice de confusion montre qu’il reconnaît très bien les battements normaux et les V, avec un F1 de 0,97 et 0,90, mais qu’il rate presque tous les S et les F : 90 % des S et 88 % des F sont classés normaux. Le tableau à droite est une ablation : on retire une famille de features, et on regarde le F1 macro puis le F1 de N, de S et de V. Le F1 de N reste très élevé dans les trois cas, entre 0,96 et 0,97 : la classe majoritaire est facile et ne départage pas les modèles. Sans les intervalles RR, le F1 de S est de 0,019, c’est-à-dire rien. Avec les RR seuls, il monte à 0,148. À l’inverse, pour les V, la forme seule donne 0,809 et les deux ensemble 0,901. Cela confirme notre hypothèse issue de l’exploration : S dépend du rythme, V dépend de la forme. Une limite importante que nous avons identifiée plus tard : la feature la plus importante du RF est l’intervalle RR précédent en valeur absolue. Les S de l’entraînement viennent de patients à rythme rapide, avec un RR autour de 0,43 seconde. Le RF a donc appris « S égale intervalle court en absolu », un raccourci propre à ces patients. Sur le record 232, qui porte 75 % des S du test, le RR est autour de 0,73 seconde et le rappel est nul. Un test exploratoire avec uniquement des RR relatifs donnait un F1 de S de 0,283, mais il a été fait sur le test avec une seule seed : c’est une hypothèse à confirmer proprement sur la validation, pas encore un résultat.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modèle : un CNN 1D, un petit réseau convolutif qui reçoit uniquement la fenêtre du battement. L’idée est qu’il apprenne lui-même les filtres de forme à la place de nos mesures manuelles. Nous ne lui donnons volontairement pas les intervalles RR, pour que ses limites soient visibles. Architecture, comme le montre le schéma sous le titre. Entrée : la fenêtre de 216 échantillons, un seul canal. Trois blocs convolutifs. Bloc 1 : convolution de noyau 7 avec 32 filtres, batch normalization, ReLU, puis max pooling de 2, soit 32 canaux sur 108 pas. Bloc 2 : noyau 5, 64 filtres, même enchaînement, soit 64 canaux sur 54 pas. Bloc 3 : noyau 3, 128 filtres, sans pooling, soit 128 canaux sur 54 pas. Une moyenne globale sur le temps donne un vecteur de 128 valeurs, puis un dropout de 0,3 et une couche dense de 128 vers 5 classes. Le modèle compte 36 133 paramètres, dont 68 % dans le dernier bloc. D’après l’architecture, le champ réceptif du dernier bloc est de 26 échantillons, environ 72 millisecondes, ce qui est inférieur à la largeur d’un QRS de V, 131 millisecondes en médiane. À gauche, les matrices de confusion du RF et du CNN, en pourcentage par ligne. Le résultat est décevant : un F1 macro de 0,433, avec un écart-type de 0,032 qui montre une vraie instabilité, puisque les 5 seeds vont de 0,37 à 0,46. Le CNN fait moins bien que le Random Forest, qui était à 0,501. Trois chiffres à retenir. Premièrement, le CNN prédit anormal pour 12,1 % des battements normaux, soit plus de 5 000 fausses alertes, contre 240 pour le RF. C’est l’effet de la perte pondérée : les poids poussent le modèle à prédire les classes rares, mais s’il n’a pas l’information pour les distinguer, il se trompe sur des battements normaux. Deuxièmement, pour la classe S, le CNN détecte 5,1 % des S mais classe aussi 7,3 % des N en S : il ne fait pas mieux que le hasard. Troisièmement, pour la classe F, les prédictions sont éparpillées au hasard entre N, S et V. Le seul point où le CNN est un peu meilleur est la sensibilité sur V, 0,889 contre 0,855, mais avec un taux de fausses alertes bien plus élevé. La conclusion est claire et elle guide la suite : le CNN apprend la forme correctement, mais S ne se distingue pas par la forme. Il lui manque le rythme. Ce n’est pas un problème de taille ou de profondeur du réseau, c’est un problème d’information.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modèle : nous gardons exactement le même réseau convolutif et nous lui ajoutons une branche rythme. Le schéma sous le titre montre les deux branches. Architecture. Le tronc convolutif est identique à celui du CNN précédent et produit un vecteur de 128 valeurs. Une seconde branche reçoit 3 valeurs de rythme : le logarithme du rapport entre l’intervalle précédent et la moyenne des 10 intervalles précédents, le même rapport pour l’intervalle suivant, et le logarithme du rapport entre l’intervalle précédent et le suivant. Ces trois nombres sont standardisés avec les statistiques du train, passent par une couche dense de 3 vers 16 neurones avec ReLU, et sont concaténés à l’embedding de forme, ce qui donne 144 valeurs. Puis dropout de 0,3 et une couche dense de 144 vers 5 classes. Le modèle compte 36 277 paramètres, soit seulement 144 de plus que le CNN seul. Un choix important : ce sont des rapports, donc relatifs, sans aucune fréquence cardiaque absolue. C’est la leçon du Random Forest : le modèle ne doit pas pouvoir s’appuyer sur le rythme propre à un patient. Les résultats : le F1 macro passe de 0,433 à 0,522, soit un gain de 0,089 avec un écart-type de 0,042, et le gain est positif sur les 5 seeds. La sensibilité sur S passe de 5 % à 55 %. Et regardez le record 232 : le rappel passe de pratiquement zéro à 0,52. L’amélioration n’est pas due à un seul patient : le record 222 passe de 0,23 à 0,91, le record 100 de 0,28 à 0,98. Les V s’améliorent aussi, parce que la pause qui suit une extrasystole ventriculaire est une information de rythme. Le gain vient donc de l’information de rythme plus que de l’architecture : le Random Forest avec uniquement des RR relatifs, dans notre test exploratoire, obtenait un niveau de F1 comparable sur S. Les limites : la précision sur S reste faible, 0,21, avec plus de 4 000 battements normaux classés S, c’est-à-dire 9 % des normaux. Pour le patient 213, où les rythmes sont alternés, le rappel de V chute de 0,97 à 0,67 : un rapport à une moyenne locale est trompeur quand les battements alternent. Et la classe F reste ignorée. Le rythme est ici résumé par trois formules que nous avons choisies. L’étape suivante est de laisser le modèle l’apprendre à partir de la séquence des intervalles.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modèle : le CNN-LSTM avec attention. Le schéma du haut montre le principe. Pour classer un battement, le modèle regarde 9 battements consécutifs : le battement à classer et 4 voisins de chaque côté. Un même CNN, avec les mêmes poids, encode la forme de chacun. À cet embedding de forme, nous ajoutons pour chaque battement une information de rythme : le logarithme du rapport entre son intervalle RR précédent et la moyenne des 10 intervalles précédents, donc une valeur relative, sans fréquence cardiaque absolue. Un LSTM bidirectionnel lit alors la séquence, une attention pondère les 9 battements, et la décision combine ce contexte pondéré avec l’état du battement central. Pourquoi un LSTM avec un CNN plutôt qu’un LSTM seul ? Il y a deux échelles de temps : la forme d’un battement, de l’ordre de la dizaine de millisecondes, bien capturée par un CNN, et le rythme entre battements, de l’ordre de la seconde, bien capturé par un réseau récurrent. Un LSTM seul devrait lire environ 2 600 échantillons pour 9 battements, ce qui est lent et difficile à entraîner ; ici le LSTM ne lit que 9 pas. Nous prévoyons de tester aussi un LSTM seul, comme le demande le sujet, pour le justifier avec des chiffres. Lecture des matrices de confusion. À gauche le CNN avec branche rythme, à droite le CNN-LSTM, sur le test, en pourcentage par ligne, avec les effectifs moyens entre parenthèses. Les chiffres en gros à droite sont ceux du CNN-LSTM, avec entre parenthèses ceux du CNN avec rythme. Ligne N : le CNN-LSTM classe correctement 93,1 % des battements normaux, contre 86,4 %. Les fausses alertes de normaux vers F passent de 1 639 à 128, et celles vers S de 4 087 à 2 666. Au total, 6,9 % des normaux sont prédits anormaux, contre 13,6 %. Ligne S : le CNN-LSTM détecte 47,7 % des S, soit 877 en moyenne, contre 55,0 %, soit 1 011, pour le CNN avec rythme. Il en détecte donc un peu moins, mais avec bien moins de fausses alertes : le F1 de S est de 0,350 contre 0,295. Les S manqués sont surtout classés normaux, 48 %. Ligne V : les deux modèles sont proches, environ 90 % de V détectés. Le rappel de V du record 213, qui chutait avec le CNN avec rythme, remonte de 0,67 à 0,90 : un modèle qui voit la séquence gère mieux les rythmes alternés. Ligne F : c’est le changement le plus net. Le CNN avec rythme n’en détecte pratiquement aucun, 4 sur 388, le CNN-LSTM en détecte 51, soit 13 %. Mais ce résultat repose sur un seul patient, le 213, et reste fragile. Résultats globaux : F1 macro de 0,590 avec un écart-type de 0,051, le plus élevé de tous les modèles. Le gain sur le CNN avec rythme est de 0,069, avec un écart-type de 0,042, et il est positif sur les 5 seeds. La variabilité est réelle : la seed 0 est à 0,680 ; sans elle, la moyenne est de 0,568, ce qui reste au-dessus du CNN avec rythme sur les mêmes seeds, 0,513. L’analyse des poids d’attention, disponible dans le dépôt, montre que pour les V le poids sur le battement central est de 0,46, alors qu’une répartition uniforme donnerait 0,11, et que les voisins immédiats sont presque ignorés. Le modèle juge un V surtout par sa propre forme. Précaution : une attention forte n’est pas une explication prouvée, car le LSTM mélange déjà l’information des voisins. Réserve de méthode : la référence de rythme, la moyenne des 10 intervalles précédents, a été choisie après un diagnostic mené sur des résultats du test, notamment le record 232. La validation va dans le même sens, de 0,465 pour le CNN avec rythme à 0,521 pour le CNN-LSTM, mais il faudrait figer ce choix sur la validation avant de conclure définitivement.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comparaison finale des quatre modèles sur le test, moyenne sur 5 seeds. Le tableau donne l’accuracy, le F1 macro, puis le F1 de chaque classe : N, S, V et F. Les valeurs en bleu et en gras sont les meilleures de chaque colonne. Le CNN-LSTM est en tête du F1 macro, avec 0,590, devant le CNN avec rythme à 0,522, le Random Forest à 0,501 et le CNN initial à 0,433. Le gain du CNN-LSTM sur le CNN avec rythme est de 0,069, avec un écart-type de 0,042, et il est positif sur les 5 seeds. Chacune de ses 5 seeds, de 0,531 à 0,680, dépasse aussi le score moyen du RF. Attention toutefois à la variabilité : l’écart-type du CNN-LSTM est de 0,051, et la seed 0 tire la moyenne vers le haut ; sans elle, la moyenne est de 0,568, ce qui reste supérieur à ce que fait le CNN avec rythme sur les mêmes seeds. Le graphique à droite détaille par classe. Pour la classe N, tous les modèles sont élevés : 0,970 pour le RF, 0,948 pour le CNN-LSTM, 0,912 et 0,911 pour les deux autres CNN. La classe majoritaire est facile ; l’écart vient surtout des fausses alertes, c’est-à-dire des normaux prédits anormaux. Sur S, le CNN-LSTM a le meilleur F1, 0,350, devant le CNN avec rythme, 0,295, et le RF, 0,118. Sur F, il est le seul à détecter quelque chose : 0,170, contre des valeurs proches de zéro pour les autres. Sur V, tous les modèles qui voient le rythme sont proches : le RF est légèrement devant avec 0,901 contre 0,893, un écart négligeable. Le Random Forest garde deux atouts : la meilleure accuracy, 0,943, et très peu de fausses alertes sur les battements normaux, 0,5 %, contre 6,9 % pour le CNN-LSTM, qui est déjà deux fois moins que le CNN avec rythme, 13,6 %. Il y a un compromis, typique du domaine médical, entre sensibilité et précision : le CNN-LSTM détecte 48 % des S contre 7 % pour le RF, mais avec une précision de 0,30 contre 0,53. Choisir où placer ce curseur est une décision clinique, pas seulement statistique. Ces chiffres sont intermédiaires : il reste à tester un LSTM seul, comme demandé par le sujet, et à calculer des intervalles de confiance par bootstrap sur les patients, car S et F reposent sur un ou deux patients.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197CA-9BC7-175E-F3BC-2CE391D783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18C8F2-AE63-6DD2-B5C8-81688BEA5F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3C45B1-DF73-75C6-E46D-0CB6F727C005}"/>
              </a:ext>
            </a:extLst>
          </p:cNvPr>
          <p:cNvSpPr>
            <a:spLocks noGrp="1"/>
          </p:cNvSpPr>
          <p:nvPr>
            <p:ph type="body" idx="1"/>
          </p:nvPr>
        </p:nvSpPr>
        <p:spPr/>
        <p:txBody>
          <a:bodyPr/>
          <a:lstStyle/>
          <a:p>
            <a:r>
              <a:rPr lang="en-US" dirty="0"/>
              <a:t>Bonjour. Nous allons vous présenter notre projet : classer automatiquement des battements cardiaques sur des ECG pour détecter des arythmies. L’enjeu est double. D’un côté, une bonne performance de prédiction, parce que nous sommes dans un contexte médical. De l’autre, la possibilité d’expliquer les décisions du modèle, pour qu’un clinicien puisse les valider. Nous avons travaillé sur la base MIT-BIH. Notre démarche n’est pas de présenter un seul modèle final, mais un parcours : on part d’une baseline simple, on mesure précisément ses limites, puis on choisit le modèle suivant pour corriger ces limites, en justifiant à chaque étape pourquoi. Le fil de la présentation : les données et ce que leur exploration nous apprend ; les quatre modèles testés, du Random Forest au CNN-LSTM avec attention ; la comparaison des résultats ; puis l’interprétabilité, les limites et la suite. Tous les résultats que vous verrez sont des moyennes sur cinq initialisations aléatoires, mesurées sur des patients que les modèles n’ont jamais vus.</a:t>
            </a:r>
          </a:p>
        </p:txBody>
      </p:sp>
      <p:sp>
        <p:nvSpPr>
          <p:cNvPr id="4" name="Slide Number Placeholder 3">
            <a:extLst>
              <a:ext uri="{FF2B5EF4-FFF2-40B4-BE49-F238E27FC236}">
                <a16:creationId xmlns:a16="http://schemas.microsoft.com/office/drawing/2014/main" id="{F238F4B1-D801-B16B-59D7-D87BA87816E6}"/>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6163902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6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734061"/>
            <a:ext cx="10972800" cy="391160"/>
          </a:xfrm>
          <a:prstGeom prst="rect">
            <a:avLst/>
          </a:prstGeom>
          <a:noFill/>
          <a:ln/>
        </p:spPr>
        <p:txBody>
          <a:bodyPr wrap="square" lIns="0" tIns="0" rIns="0" bIns="0" rtlCol="0" anchor="t"/>
          <a:lstStyle>
            <a:lvl1pPr marL="0" indent="0" algn="l">
              <a:lnSpc>
                <a:spcPct val="115000"/>
              </a:lnSpc>
              <a:buNone/>
              <a:defRPr lang="en-US" sz="2800" dirty="0">
                <a:solidFill>
                  <a:srgbClr val="0F1B2D"/>
                </a:solidFill>
                <a:latin typeface="DM Sans" pitchFamily="34" charset="0"/>
                <a:ea typeface="DM Sans" pitchFamily="34" charset="-122"/>
                <a:cs typeface="DM Sans"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609600" y="1430021"/>
            <a:ext cx="10769600" cy="4615179"/>
          </a:xfrm>
          <a:prstGeom prst="rect">
            <a:avLst/>
          </a:prstGeom>
          <a:noFill/>
          <a:ln/>
        </p:spPr>
        <p:txBody>
          <a:bodyPr wrap="square" lIns="0" tIns="0" rIns="0" bIns="0" rtlCol="0" anchor="t"/>
          <a:lstStyle>
            <a:lvl1pPr marL="0" indent="0" algn="l">
              <a:lnSpc>
                <a:spcPct val="140000"/>
              </a:lnSpc>
              <a:buNone/>
              <a:defRPr lang="en-US" sz="1600" dirty="0">
                <a:solidFill>
                  <a:srgbClr val="0F1B2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6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734061"/>
            <a:ext cx="10972800" cy="391160"/>
          </a:xfrm>
          <a:prstGeom prst="rect">
            <a:avLst/>
          </a:prstGeom>
          <a:noFill/>
          <a:ln/>
        </p:spPr>
        <p:txBody>
          <a:bodyPr wrap="square" lIns="0" tIns="0" rIns="0" bIns="0" rtlCol="0" anchor="t"/>
          <a:lstStyle>
            <a:lvl1pPr marL="0" indent="0" algn="l">
              <a:lnSpc>
                <a:spcPct val="115000"/>
              </a:lnSpc>
              <a:buNone/>
              <a:defRPr lang="en-US" sz="2800" dirty="0">
                <a:solidFill>
                  <a:srgbClr val="0F1B2D"/>
                </a:solidFill>
                <a:latin typeface="DM Sans" pitchFamily="34" charset="0"/>
                <a:ea typeface="DM Sans" pitchFamily="34" charset="-122"/>
                <a:cs typeface="DM Sans"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609600" y="1430021"/>
            <a:ext cx="10769600" cy="4615179"/>
          </a:xfrm>
          <a:prstGeom prst="rect">
            <a:avLst/>
          </a:prstGeom>
          <a:noFill/>
          <a:ln/>
        </p:spPr>
        <p:txBody>
          <a:bodyPr wrap="square" lIns="0" tIns="0" rIns="0" bIns="0" rtlCol="0" anchor="t"/>
          <a:lstStyle>
            <a:lvl1pPr marL="0" indent="0" algn="l">
              <a:lnSpc>
                <a:spcPct val="140000"/>
              </a:lnSpc>
              <a:buNone/>
              <a:defRPr lang="en-US" sz="1600" dirty="0">
                <a:solidFill>
                  <a:srgbClr val="0F1B2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7DB2F2"/>
                </a:solidFill>
                <a:latin typeface="IBM Plex Sans" pitchFamily="34" charset="0"/>
                <a:ea typeface="IBM Plex Sans" pitchFamily="34" charset="-122"/>
                <a:cs typeface="IBM Plex Sans" pitchFamily="34" charset="-120"/>
              </a:rPr>
              <a:t>PROJET 3 · DEEP LEARNING</a:t>
            </a:r>
            <a:endParaRPr lang="en-US" sz="1200" dirty="0"/>
          </a:p>
        </p:txBody>
      </p:sp>
      <p:pic>
        <p:nvPicPr>
          <p:cNvPr id="3" name="Image 0" descr="line"/>
          <p:cNvPicPr>
            <a:picLocks noChangeAspect="1"/>
          </p:cNvPicPr>
          <p:nvPr/>
        </p:nvPicPr>
        <p:blipFill>
          <a:blip r:embed="rId3"/>
          <a:srcRect/>
          <a:stretch/>
        </p:blipFill>
        <p:spPr>
          <a:xfrm>
            <a:off x="812800" y="1229360"/>
            <a:ext cx="762000" cy="38100"/>
          </a:xfrm>
          <a:prstGeom prst="rect">
            <a:avLst/>
          </a:prstGeom>
        </p:spPr>
      </p:pic>
      <p:sp>
        <p:nvSpPr>
          <p:cNvPr id="4" name="Text 1"/>
          <p:cNvSpPr>
            <a:spLocks noGrp="1"/>
          </p:cNvSpPr>
          <p:nvPr>
            <p:ph type="title"/>
          </p:nvPr>
        </p:nvSpPr>
        <p:spPr>
          <a:xfrm>
            <a:off x="812800" y="2443242"/>
            <a:ext cx="9810750" cy="1232376"/>
          </a:xfrm>
          <a:prstGeom prst="rect">
            <a:avLst/>
          </a:prstGeom>
          <a:noFill/>
          <a:ln/>
        </p:spPr>
        <p:txBody>
          <a:bodyPr wrap="square" lIns="0" tIns="0" rIns="0" bIns="0" rtlCol="0" anchor="t">
            <a:normAutofit/>
          </a:bodyPr>
          <a:lstStyle/>
          <a:p>
            <a:pPr marL="0" indent="0" algn="l">
              <a:lnSpc>
                <a:spcPts val="4752"/>
              </a:lnSpc>
              <a:buNone/>
            </a:pPr>
            <a:r>
              <a:rPr lang="en-US" sz="4400" b="1" i="0" dirty="0">
                <a:solidFill>
                  <a:srgbClr val="F6F6F2"/>
                </a:solidFill>
                <a:latin typeface="DM Sans" pitchFamily="34" charset="0"/>
                <a:ea typeface="DM Sans" pitchFamily="34" charset="-122"/>
                <a:cs typeface="DM Sans" pitchFamily="34" charset="-120"/>
              </a:rPr>
              <a:t>Classification de séries temporelles médicales</a:t>
            </a:r>
            <a:endParaRPr lang="en-US" sz="4400" dirty="0"/>
          </a:p>
        </p:txBody>
      </p:sp>
      <p:sp>
        <p:nvSpPr>
          <p:cNvPr id="5" name="Text 2"/>
          <p:cNvSpPr/>
          <p:nvPr/>
        </p:nvSpPr>
        <p:spPr>
          <a:xfrm>
            <a:off x="812800" y="3853418"/>
            <a:ext cx="8502650" cy="6858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B9C4D6"/>
                </a:solidFill>
                <a:latin typeface="IBM Plex Sans" pitchFamily="34" charset="0"/>
                <a:ea typeface="IBM Plex Sans" pitchFamily="34" charset="-122"/>
                <a:cs typeface="IBM Plex Sans" pitchFamily="34" charset="-120"/>
              </a:rPr>
              <a:t>Détection d’arythmies cardiaques sur ECG, base MIT-BIH Arrhythmia Database</a:t>
            </a:r>
            <a:endParaRPr lang="en-US" sz="2000" dirty="0"/>
          </a:p>
        </p:txBody>
      </p:sp>
      <p:sp>
        <p:nvSpPr>
          <p:cNvPr id="6" name="Text 3"/>
          <p:cNvSpPr/>
          <p:nvPr/>
        </p:nvSpPr>
        <p:spPr>
          <a:xfrm>
            <a:off x="812800" y="5689600"/>
            <a:ext cx="10883392"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6F6F2"/>
                </a:solidFill>
                <a:latin typeface="DM Sans" pitchFamily="34" charset="0"/>
                <a:ea typeface="DM Sans" pitchFamily="34" charset="-122"/>
                <a:cs typeface="DM Sans" pitchFamily="34" charset="-120"/>
              </a:rPr>
              <a:t>Steve Mboda · Houssam Eddine</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6F2"/>
        </a:solidFill>
        <a:effectLst/>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F5FB0"/>
                </a:solidFill>
                <a:latin typeface="IBM Plex Sans" pitchFamily="34" charset="0"/>
                <a:ea typeface="IBM Plex Sans" pitchFamily="34" charset="-122"/>
                <a:cs typeface="IBM Plex Sans" pitchFamily="34" charset="-120"/>
              </a:rPr>
              <a:t>02 · DONNÉES</a:t>
            </a:r>
            <a:endParaRPr lang="en-US" sz="1200" dirty="0"/>
          </a:p>
        </p:txBody>
      </p:sp>
      <p:sp>
        <p:nvSpPr>
          <p:cNvPr id="3" name="Text 1"/>
          <p:cNvSpPr>
            <a:spLocks noGrp="1"/>
          </p:cNvSpPr>
          <p:nvPr>
            <p:ph type="title"/>
          </p:nvPr>
        </p:nvSpPr>
        <p:spPr>
          <a:xfrm>
            <a:off x="609600" y="734060"/>
            <a:ext cx="11301984" cy="41656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F1B2D"/>
                </a:solidFill>
                <a:latin typeface="DM Sans" pitchFamily="34" charset="0"/>
                <a:ea typeface="DM Sans" pitchFamily="34" charset="-122"/>
                <a:cs typeface="DM Sans" pitchFamily="34" charset="-120"/>
              </a:rPr>
              <a:t>Des données déséquilibrées, évaluées patient par patient</a:t>
            </a:r>
            <a:endParaRPr lang="en-US" sz="2800" dirty="0"/>
          </a:p>
        </p:txBody>
      </p:sp>
      <p:sp>
        <p:nvSpPr>
          <p:cNvPr id="4" name="Shape 2"/>
          <p:cNvSpPr/>
          <p:nvPr/>
        </p:nvSpPr>
        <p:spPr>
          <a:xfrm>
            <a:off x="612775" y="1306195"/>
            <a:ext cx="10966450" cy="3534410"/>
          </a:xfrm>
          <a:prstGeom prst="roundRect">
            <a:avLst>
              <a:gd name="adj" fmla="val 2785"/>
            </a:avLst>
          </a:prstGeom>
          <a:solidFill>
            <a:srgbClr val="FCFCFB"/>
          </a:solidFill>
          <a:ln w="6350">
            <a:solidFill>
              <a:srgbClr val="E1E0D9"/>
            </a:solidFill>
            <a:prstDash val="solid"/>
          </a:ln>
        </p:spPr>
        <p:txBody>
          <a:bodyPr/>
          <a:lstStyle/>
          <a:p>
            <a:endParaRPr lang="fr-FR"/>
          </a:p>
        </p:txBody>
      </p:sp>
      <p:pic>
        <p:nvPicPr>
          <p:cNvPr id="5" name="Image 0" descr="Nombre de battements par classe (échelle logarithmique) pour les ensembles train, validation et test"/>
          <p:cNvPicPr>
            <a:picLocks noChangeAspect="1"/>
          </p:cNvPicPr>
          <p:nvPr/>
        </p:nvPicPr>
        <p:blipFill>
          <a:blip r:embed="rId3"/>
          <a:srcRect t="-48" b="-48"/>
          <a:stretch/>
        </p:blipFill>
        <p:spPr>
          <a:xfrm>
            <a:off x="716280" y="1409700"/>
            <a:ext cx="10759440" cy="3327400"/>
          </a:xfrm>
          <a:prstGeom prst="rect">
            <a:avLst/>
          </a:prstGeom>
        </p:spPr>
      </p:pic>
      <p:sp>
        <p:nvSpPr>
          <p:cNvPr id="6" name="Shape 3"/>
          <p:cNvSpPr/>
          <p:nvPr/>
        </p:nvSpPr>
        <p:spPr>
          <a:xfrm>
            <a:off x="612775" y="5024755"/>
            <a:ext cx="2622550" cy="915670"/>
          </a:xfrm>
          <a:prstGeom prst="roundRect">
            <a:avLst>
              <a:gd name="adj" fmla="val 10749"/>
            </a:avLst>
          </a:prstGeom>
          <a:solidFill>
            <a:srgbClr val="FCFCFB"/>
          </a:solidFill>
          <a:ln w="6350">
            <a:solidFill>
              <a:srgbClr val="E1E0D9"/>
            </a:solidFill>
            <a:prstDash val="solid"/>
          </a:ln>
        </p:spPr>
        <p:txBody>
          <a:bodyPr/>
          <a:lstStyle/>
          <a:p>
            <a:endParaRPr lang="fr-FR"/>
          </a:p>
        </p:txBody>
      </p:sp>
      <p:sp>
        <p:nvSpPr>
          <p:cNvPr id="7" name="Text 4"/>
          <p:cNvSpPr/>
          <p:nvPr/>
        </p:nvSpPr>
        <p:spPr>
          <a:xfrm>
            <a:off x="767080" y="5179060"/>
            <a:ext cx="2383358"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1F5FB0"/>
                </a:solidFill>
                <a:latin typeface="DM Sans" pitchFamily="34" charset="0"/>
                <a:ea typeface="DM Sans" pitchFamily="34" charset="-122"/>
                <a:cs typeface="DM Sans" pitchFamily="34" charset="-120"/>
              </a:rPr>
              <a:t>44</a:t>
            </a:r>
            <a:endParaRPr lang="en-US" sz="2800" dirty="0"/>
          </a:p>
        </p:txBody>
      </p:sp>
      <p:sp>
        <p:nvSpPr>
          <p:cNvPr id="8" name="Text 5"/>
          <p:cNvSpPr/>
          <p:nvPr/>
        </p:nvSpPr>
        <p:spPr>
          <a:xfrm>
            <a:off x="767080" y="5572760"/>
            <a:ext cx="238335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patients, ECG à 360 Hz</a:t>
            </a:r>
            <a:endParaRPr lang="en-US" sz="1200" dirty="0"/>
          </a:p>
        </p:txBody>
      </p:sp>
      <p:sp>
        <p:nvSpPr>
          <p:cNvPr id="9" name="Shape 6"/>
          <p:cNvSpPr/>
          <p:nvPr/>
        </p:nvSpPr>
        <p:spPr>
          <a:xfrm>
            <a:off x="3394075" y="5024755"/>
            <a:ext cx="2622550" cy="915670"/>
          </a:xfrm>
          <a:prstGeom prst="roundRect">
            <a:avLst>
              <a:gd name="adj" fmla="val 10749"/>
            </a:avLst>
          </a:prstGeom>
          <a:solidFill>
            <a:srgbClr val="FCFCFB"/>
          </a:solidFill>
          <a:ln w="6350">
            <a:solidFill>
              <a:srgbClr val="E1E0D9"/>
            </a:solidFill>
            <a:prstDash val="solid"/>
          </a:ln>
        </p:spPr>
        <p:txBody>
          <a:bodyPr/>
          <a:lstStyle/>
          <a:p>
            <a:endParaRPr lang="fr-FR"/>
          </a:p>
        </p:txBody>
      </p:sp>
      <p:sp>
        <p:nvSpPr>
          <p:cNvPr id="10" name="Text 7"/>
          <p:cNvSpPr/>
          <p:nvPr/>
        </p:nvSpPr>
        <p:spPr>
          <a:xfrm>
            <a:off x="3548380" y="5179060"/>
            <a:ext cx="2383358"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1F5FB0"/>
                </a:solidFill>
                <a:latin typeface="DM Sans" pitchFamily="34" charset="0"/>
                <a:ea typeface="DM Sans" pitchFamily="34" charset="-122"/>
                <a:cs typeface="DM Sans" pitchFamily="34" charset="-120"/>
              </a:rPr>
              <a:t>100 699</a:t>
            </a:r>
            <a:endParaRPr lang="en-US" sz="2800" dirty="0"/>
          </a:p>
        </p:txBody>
      </p:sp>
      <p:sp>
        <p:nvSpPr>
          <p:cNvPr id="11" name="Text 8"/>
          <p:cNvSpPr/>
          <p:nvPr/>
        </p:nvSpPr>
        <p:spPr>
          <a:xfrm>
            <a:off x="3548380" y="5572760"/>
            <a:ext cx="238335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battements de 0,6 s</a:t>
            </a:r>
            <a:endParaRPr lang="en-US" sz="1200" dirty="0"/>
          </a:p>
        </p:txBody>
      </p:sp>
      <p:sp>
        <p:nvSpPr>
          <p:cNvPr id="12" name="Shape 9"/>
          <p:cNvSpPr/>
          <p:nvPr/>
        </p:nvSpPr>
        <p:spPr>
          <a:xfrm>
            <a:off x="6175375" y="5024755"/>
            <a:ext cx="2622550" cy="915670"/>
          </a:xfrm>
          <a:prstGeom prst="roundRect">
            <a:avLst>
              <a:gd name="adj" fmla="val 10749"/>
            </a:avLst>
          </a:prstGeom>
          <a:solidFill>
            <a:srgbClr val="FCFCFB"/>
          </a:solidFill>
          <a:ln w="6350">
            <a:solidFill>
              <a:srgbClr val="E1E0D9"/>
            </a:solidFill>
            <a:prstDash val="solid"/>
          </a:ln>
        </p:spPr>
        <p:txBody>
          <a:bodyPr/>
          <a:lstStyle/>
          <a:p>
            <a:endParaRPr lang="fr-FR"/>
          </a:p>
        </p:txBody>
      </p:sp>
      <p:sp>
        <p:nvSpPr>
          <p:cNvPr id="13" name="Text 10"/>
          <p:cNvSpPr/>
          <p:nvPr/>
        </p:nvSpPr>
        <p:spPr>
          <a:xfrm>
            <a:off x="6329680" y="5179060"/>
            <a:ext cx="2383358"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1F5FB0"/>
                </a:solidFill>
                <a:latin typeface="DM Sans" pitchFamily="34" charset="0"/>
                <a:ea typeface="DM Sans" pitchFamily="34" charset="-122"/>
                <a:cs typeface="DM Sans" pitchFamily="34" charset="-120"/>
              </a:rPr>
              <a:t>5</a:t>
            </a:r>
            <a:endParaRPr lang="en-US" sz="2800" dirty="0"/>
          </a:p>
        </p:txBody>
      </p:sp>
      <p:sp>
        <p:nvSpPr>
          <p:cNvPr id="14" name="Text 11"/>
          <p:cNvSpPr/>
          <p:nvPr/>
        </p:nvSpPr>
        <p:spPr>
          <a:xfrm>
            <a:off x="6329680" y="5572760"/>
            <a:ext cx="238335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classes : N, S, V, F, Q</a:t>
            </a:r>
            <a:endParaRPr lang="en-US" sz="1200" dirty="0"/>
          </a:p>
        </p:txBody>
      </p:sp>
      <p:sp>
        <p:nvSpPr>
          <p:cNvPr id="15" name="Shape 12"/>
          <p:cNvSpPr/>
          <p:nvPr/>
        </p:nvSpPr>
        <p:spPr>
          <a:xfrm>
            <a:off x="8956675" y="5024755"/>
            <a:ext cx="2622550" cy="915670"/>
          </a:xfrm>
          <a:prstGeom prst="roundRect">
            <a:avLst>
              <a:gd name="adj" fmla="val 10749"/>
            </a:avLst>
          </a:prstGeom>
          <a:solidFill>
            <a:srgbClr val="FCFCFB"/>
          </a:solidFill>
          <a:ln w="6350">
            <a:solidFill>
              <a:srgbClr val="E1E0D9"/>
            </a:solidFill>
            <a:prstDash val="solid"/>
          </a:ln>
        </p:spPr>
        <p:txBody>
          <a:bodyPr/>
          <a:lstStyle/>
          <a:p>
            <a:endParaRPr lang="fr-FR"/>
          </a:p>
        </p:txBody>
      </p:sp>
      <p:sp>
        <p:nvSpPr>
          <p:cNvPr id="16" name="Text 13"/>
          <p:cNvSpPr/>
          <p:nvPr/>
        </p:nvSpPr>
        <p:spPr>
          <a:xfrm>
            <a:off x="9110980" y="5179060"/>
            <a:ext cx="2383358"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1F5FB0"/>
                </a:solidFill>
                <a:latin typeface="DM Sans" pitchFamily="34" charset="0"/>
                <a:ea typeface="DM Sans" pitchFamily="34" charset="-122"/>
                <a:cs typeface="DM Sans" pitchFamily="34" charset="-120"/>
              </a:rPr>
              <a:t>17 · 5 · 22</a:t>
            </a:r>
            <a:endParaRPr lang="en-US" sz="2800" dirty="0"/>
          </a:p>
        </p:txBody>
      </p:sp>
      <p:sp>
        <p:nvSpPr>
          <p:cNvPr id="17" name="Text 14"/>
          <p:cNvSpPr/>
          <p:nvPr/>
        </p:nvSpPr>
        <p:spPr>
          <a:xfrm>
            <a:off x="9110980" y="5572760"/>
            <a:ext cx="238335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patients en train · val · test</a:t>
            </a:r>
            <a:endParaRPr lang="en-US" sz="1200" dirty="0"/>
          </a:p>
        </p:txBody>
      </p:sp>
      <p:sp>
        <p:nvSpPr>
          <p:cNvPr id="18" name="Text 15"/>
          <p:cNvSpPr/>
          <p:nvPr/>
        </p:nvSpPr>
        <p:spPr>
          <a:xfrm>
            <a:off x="609600" y="6365241"/>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Classification de séries temporelles ECG · MIT-BIH · résultats intermédiaires</a:t>
            </a:r>
            <a:endParaRPr lang="en-US" sz="1200" dirty="0"/>
          </a:p>
        </p:txBody>
      </p:sp>
      <p:sp>
        <p:nvSpPr>
          <p:cNvPr id="19" name="Text 16"/>
          <p:cNvSpPr/>
          <p:nvPr/>
        </p:nvSpPr>
        <p:spPr>
          <a:xfrm>
            <a:off x="10261600" y="63652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IBM Plex Sans" pitchFamily="34" charset="0"/>
                <a:ea typeface="IBM Plex Sans" pitchFamily="34" charset="-122"/>
                <a:cs typeface="IBM Plex Sans" pitchFamily="34" charset="-120"/>
              </a:rPr>
              <a:t>2 / 10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6F2"/>
        </a:solidFill>
        <a:effectLst/>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F5FB0"/>
                </a:solidFill>
                <a:latin typeface="IBM Plex Sans" pitchFamily="34" charset="0"/>
                <a:ea typeface="IBM Plex Sans" pitchFamily="34" charset="-122"/>
                <a:cs typeface="IBM Plex Sans" pitchFamily="34" charset="-120"/>
              </a:rPr>
              <a:t>03 · EXPLORATION</a:t>
            </a:r>
            <a:endParaRPr lang="en-US" sz="1200" dirty="0"/>
          </a:p>
        </p:txBody>
      </p:sp>
      <p:sp>
        <p:nvSpPr>
          <p:cNvPr id="3" name="Text 1"/>
          <p:cNvSpPr>
            <a:spLocks noGrp="1"/>
          </p:cNvSpPr>
          <p:nvPr>
            <p:ph type="title"/>
          </p:nvPr>
        </p:nvSpPr>
        <p:spPr>
          <a:xfrm>
            <a:off x="609600" y="734061"/>
            <a:ext cx="11301984" cy="41656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F1B2D"/>
                </a:solidFill>
                <a:latin typeface="DM Sans" pitchFamily="34" charset="0"/>
                <a:ea typeface="DM Sans" pitchFamily="34" charset="-122"/>
                <a:cs typeface="DM Sans" pitchFamily="34" charset="-120"/>
              </a:rPr>
              <a:t>La forme distingue V, le rythme distingue S</a:t>
            </a:r>
            <a:endParaRPr lang="en-US" sz="2800" dirty="0"/>
          </a:p>
        </p:txBody>
      </p:sp>
      <p:sp>
        <p:nvSpPr>
          <p:cNvPr id="4" name="Shape 2"/>
          <p:cNvSpPr/>
          <p:nvPr/>
        </p:nvSpPr>
        <p:spPr>
          <a:xfrm>
            <a:off x="612775" y="1306195"/>
            <a:ext cx="10966450" cy="2658110"/>
          </a:xfrm>
          <a:prstGeom prst="roundRect">
            <a:avLst>
              <a:gd name="adj" fmla="val 3703"/>
            </a:avLst>
          </a:prstGeom>
          <a:solidFill>
            <a:srgbClr val="FCFCFB"/>
          </a:solidFill>
          <a:ln w="6350">
            <a:solidFill>
              <a:srgbClr val="E1E0D9"/>
            </a:solidFill>
            <a:prstDash val="solid"/>
          </a:ln>
        </p:spPr>
        <p:txBody>
          <a:bodyPr/>
          <a:lstStyle/>
          <a:p>
            <a:endParaRPr lang="fr-FR"/>
          </a:p>
        </p:txBody>
      </p:sp>
      <p:pic>
        <p:nvPicPr>
          <p:cNvPr id="5" name="Image 0" descr="Battement moyen et écart-type pour chaque classe sur une fenêtre de plus ou moins 0,5 seconde autour du pic R, avec la fenêtre retenue en gris"/>
          <p:cNvPicPr>
            <a:picLocks noChangeAspect="1"/>
          </p:cNvPicPr>
          <p:nvPr/>
        </p:nvPicPr>
        <p:blipFill>
          <a:blip r:embed="rId3"/>
          <a:srcRect t="-24" b="-24"/>
          <a:stretch/>
        </p:blipFill>
        <p:spPr>
          <a:xfrm>
            <a:off x="716280" y="1409700"/>
            <a:ext cx="10759440" cy="2451100"/>
          </a:xfrm>
          <a:prstGeom prst="rect">
            <a:avLst/>
          </a:prstGeom>
        </p:spPr>
      </p:pic>
      <p:sp>
        <p:nvSpPr>
          <p:cNvPr id="6" name="Shape 3"/>
          <p:cNvSpPr/>
          <p:nvPr/>
        </p:nvSpPr>
        <p:spPr>
          <a:xfrm>
            <a:off x="612775" y="4148455"/>
            <a:ext cx="3549650" cy="1801495"/>
          </a:xfrm>
          <a:prstGeom prst="roundRect">
            <a:avLst>
              <a:gd name="adj" fmla="val 5464"/>
            </a:avLst>
          </a:prstGeom>
          <a:solidFill>
            <a:srgbClr val="FCFCFB"/>
          </a:solidFill>
          <a:ln w="6350">
            <a:solidFill>
              <a:srgbClr val="E1E0D9"/>
            </a:solidFill>
            <a:prstDash val="solid"/>
          </a:ln>
        </p:spPr>
        <p:txBody>
          <a:bodyPr/>
          <a:lstStyle/>
          <a:p>
            <a:endParaRPr lang="fr-FR"/>
          </a:p>
        </p:txBody>
      </p:sp>
      <p:sp>
        <p:nvSpPr>
          <p:cNvPr id="7" name="Text 4"/>
          <p:cNvSpPr/>
          <p:nvPr/>
        </p:nvSpPr>
        <p:spPr>
          <a:xfrm>
            <a:off x="792480" y="4328161"/>
            <a:ext cx="328594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5FB0"/>
                </a:solidFill>
                <a:latin typeface="IBM Plex Sans" pitchFamily="34" charset="0"/>
                <a:ea typeface="IBM Plex Sans" pitchFamily="34" charset="-122"/>
                <a:cs typeface="IBM Plex Sans" pitchFamily="34" charset="-120"/>
              </a:rPr>
              <a:t>V · ventriculaire</a:t>
            </a:r>
            <a:endParaRPr lang="en-US" sz="1200" dirty="0"/>
          </a:p>
        </p:txBody>
      </p:sp>
      <p:sp>
        <p:nvSpPr>
          <p:cNvPr id="8" name="Text 5"/>
          <p:cNvSpPr/>
          <p:nvPr/>
        </p:nvSpPr>
        <p:spPr>
          <a:xfrm>
            <a:off x="792480" y="4592320"/>
            <a:ext cx="3285947"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0F1B2D"/>
                </a:solidFill>
                <a:latin typeface="DM Sans" pitchFamily="34" charset="0"/>
                <a:ea typeface="DM Sans" pitchFamily="34" charset="-122"/>
                <a:cs typeface="DM Sans" pitchFamily="34" charset="-120"/>
              </a:rPr>
              <a:t>131 ms</a:t>
            </a:r>
            <a:endParaRPr lang="en-US" sz="2800" dirty="0"/>
          </a:p>
        </p:txBody>
      </p:sp>
      <p:sp>
        <p:nvSpPr>
          <p:cNvPr id="9" name="Text 6"/>
          <p:cNvSpPr/>
          <p:nvPr/>
        </p:nvSpPr>
        <p:spPr>
          <a:xfrm>
            <a:off x="792480" y="4998720"/>
            <a:ext cx="3285947"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4A5568"/>
                </a:solidFill>
                <a:latin typeface="IBM Plex Sans" pitchFamily="34" charset="0"/>
                <a:ea typeface="IBM Plex Sans" pitchFamily="34" charset="-122"/>
                <a:cs typeface="IBM Plex Sans" pitchFamily="34" charset="-120"/>
              </a:rPr>
              <a:t>Largeur du QRS, contre 64 ms pour N. Onde T inversée.</a:t>
            </a:r>
            <a:endParaRPr lang="en-US" sz="1500" dirty="0"/>
          </a:p>
        </p:txBody>
      </p:sp>
      <p:sp>
        <p:nvSpPr>
          <p:cNvPr id="10" name="Shape 7"/>
          <p:cNvSpPr/>
          <p:nvPr/>
        </p:nvSpPr>
        <p:spPr>
          <a:xfrm>
            <a:off x="4321175" y="4148455"/>
            <a:ext cx="3549650" cy="1801495"/>
          </a:xfrm>
          <a:prstGeom prst="roundRect">
            <a:avLst>
              <a:gd name="adj" fmla="val 5464"/>
            </a:avLst>
          </a:prstGeom>
          <a:solidFill>
            <a:srgbClr val="FCFCFB"/>
          </a:solidFill>
          <a:ln w="6350">
            <a:solidFill>
              <a:srgbClr val="E1E0D9"/>
            </a:solidFill>
            <a:prstDash val="solid"/>
          </a:ln>
        </p:spPr>
        <p:txBody>
          <a:bodyPr/>
          <a:lstStyle/>
          <a:p>
            <a:endParaRPr lang="fr-FR"/>
          </a:p>
        </p:txBody>
      </p:sp>
      <p:sp>
        <p:nvSpPr>
          <p:cNvPr id="11" name="Text 8"/>
          <p:cNvSpPr/>
          <p:nvPr/>
        </p:nvSpPr>
        <p:spPr>
          <a:xfrm>
            <a:off x="4500880" y="4328161"/>
            <a:ext cx="328594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5FB0"/>
                </a:solidFill>
                <a:latin typeface="IBM Plex Sans" pitchFamily="34" charset="0"/>
                <a:ea typeface="IBM Plex Sans" pitchFamily="34" charset="-122"/>
                <a:cs typeface="IBM Plex Sans" pitchFamily="34" charset="-120"/>
              </a:rPr>
              <a:t>S · supraventriculaire</a:t>
            </a:r>
            <a:endParaRPr lang="en-US" sz="1200" dirty="0"/>
          </a:p>
        </p:txBody>
      </p:sp>
      <p:sp>
        <p:nvSpPr>
          <p:cNvPr id="12" name="Text 9"/>
          <p:cNvSpPr/>
          <p:nvPr/>
        </p:nvSpPr>
        <p:spPr>
          <a:xfrm>
            <a:off x="4500880" y="4592320"/>
            <a:ext cx="3285947"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0F1B2D"/>
                </a:solidFill>
                <a:latin typeface="DM Sans" pitchFamily="34" charset="0"/>
                <a:ea typeface="DM Sans" pitchFamily="34" charset="-122"/>
                <a:cs typeface="DM Sans" pitchFamily="34" charset="-120"/>
              </a:rPr>
              <a:t>0,79</a:t>
            </a:r>
            <a:endParaRPr lang="en-US" sz="2800" dirty="0"/>
          </a:p>
        </p:txBody>
      </p:sp>
      <p:sp>
        <p:nvSpPr>
          <p:cNvPr id="13" name="Text 10"/>
          <p:cNvSpPr/>
          <p:nvPr/>
        </p:nvSpPr>
        <p:spPr>
          <a:xfrm>
            <a:off x="4500880" y="4998720"/>
            <a:ext cx="3285947" cy="79692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4A5568"/>
                </a:solidFill>
                <a:latin typeface="IBM Plex Sans" pitchFamily="34" charset="0"/>
                <a:ea typeface="IBM Plex Sans" pitchFamily="34" charset="-122"/>
                <a:cs typeface="IBM Plex Sans" pitchFamily="34" charset="-120"/>
              </a:rPr>
              <a:t>RR précédent sur moyenne locale (N : 1,00). Même forme que N : seul le rythme les sépare.</a:t>
            </a:r>
            <a:endParaRPr lang="en-US" sz="1500" dirty="0"/>
          </a:p>
        </p:txBody>
      </p:sp>
      <p:sp>
        <p:nvSpPr>
          <p:cNvPr id="14" name="Shape 11"/>
          <p:cNvSpPr/>
          <p:nvPr/>
        </p:nvSpPr>
        <p:spPr>
          <a:xfrm>
            <a:off x="8029575" y="4148455"/>
            <a:ext cx="3549650" cy="1801495"/>
          </a:xfrm>
          <a:prstGeom prst="roundRect">
            <a:avLst>
              <a:gd name="adj" fmla="val 5464"/>
            </a:avLst>
          </a:prstGeom>
          <a:solidFill>
            <a:srgbClr val="FCFCFB"/>
          </a:solidFill>
          <a:ln w="6350">
            <a:solidFill>
              <a:srgbClr val="E1E0D9"/>
            </a:solidFill>
            <a:prstDash val="solid"/>
          </a:ln>
        </p:spPr>
        <p:txBody>
          <a:bodyPr/>
          <a:lstStyle/>
          <a:p>
            <a:endParaRPr lang="fr-FR"/>
          </a:p>
        </p:txBody>
      </p:sp>
      <p:sp>
        <p:nvSpPr>
          <p:cNvPr id="15" name="Text 12"/>
          <p:cNvSpPr/>
          <p:nvPr/>
        </p:nvSpPr>
        <p:spPr>
          <a:xfrm>
            <a:off x="8209280" y="4328161"/>
            <a:ext cx="328594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5FB0"/>
                </a:solidFill>
                <a:latin typeface="IBM Plex Sans" pitchFamily="34" charset="0"/>
                <a:ea typeface="IBM Plex Sans" pitchFamily="34" charset="-122"/>
                <a:cs typeface="IBM Plex Sans" pitchFamily="34" charset="-120"/>
              </a:rPr>
              <a:t>F · fusion</a:t>
            </a:r>
            <a:endParaRPr lang="en-US" sz="1200" dirty="0"/>
          </a:p>
        </p:txBody>
      </p:sp>
      <p:sp>
        <p:nvSpPr>
          <p:cNvPr id="16" name="Text 13"/>
          <p:cNvSpPr/>
          <p:nvPr/>
        </p:nvSpPr>
        <p:spPr>
          <a:xfrm>
            <a:off x="8209280" y="4592320"/>
            <a:ext cx="3285947"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0F1B2D"/>
                </a:solidFill>
                <a:latin typeface="DM Sans" pitchFamily="34" charset="0"/>
                <a:ea typeface="DM Sans" pitchFamily="34" charset="-122"/>
                <a:cs typeface="DM Sans" pitchFamily="34" charset="-120"/>
              </a:rPr>
              <a:t>372 / 384</a:t>
            </a:r>
            <a:endParaRPr lang="en-US" sz="2800" dirty="0"/>
          </a:p>
        </p:txBody>
      </p:sp>
      <p:sp>
        <p:nvSpPr>
          <p:cNvPr id="17" name="Text 14"/>
          <p:cNvSpPr/>
          <p:nvPr/>
        </p:nvSpPr>
        <p:spPr>
          <a:xfrm>
            <a:off x="8209280" y="4998720"/>
            <a:ext cx="3285947" cy="79692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4A5568"/>
                </a:solidFill>
                <a:latin typeface="IBM Plex Sans" pitchFamily="34" charset="0"/>
                <a:ea typeface="IBM Plex Sans" pitchFamily="34" charset="-122"/>
                <a:cs typeface="IBM Plex Sans" pitchFamily="34" charset="-120"/>
              </a:rPr>
              <a:t>des F du train viennent d’un seul patient : forme propre à chaque personne.</a:t>
            </a:r>
            <a:endParaRPr lang="en-US" sz="1500" dirty="0"/>
          </a:p>
        </p:txBody>
      </p:sp>
      <p:sp>
        <p:nvSpPr>
          <p:cNvPr id="18" name="Text 15"/>
          <p:cNvSpPr/>
          <p:nvPr/>
        </p:nvSpPr>
        <p:spPr>
          <a:xfrm>
            <a:off x="609600" y="6365241"/>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Classification de séries temporelles ECG · MIT-BIH · résultats intermédiaires</a:t>
            </a:r>
            <a:endParaRPr lang="en-US" sz="1200" dirty="0"/>
          </a:p>
        </p:txBody>
      </p:sp>
      <p:sp>
        <p:nvSpPr>
          <p:cNvPr id="19" name="Text 16"/>
          <p:cNvSpPr/>
          <p:nvPr/>
        </p:nvSpPr>
        <p:spPr>
          <a:xfrm>
            <a:off x="10261600" y="63652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IBM Plex Sans" pitchFamily="34" charset="0"/>
                <a:ea typeface="IBM Plex Sans" pitchFamily="34" charset="-122"/>
                <a:cs typeface="IBM Plex Sans" pitchFamily="34" charset="-120"/>
              </a:rPr>
              <a:t>3 / 10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6F2"/>
        </a:solidFill>
        <a:effectLst/>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F5FB0"/>
                </a:solidFill>
                <a:latin typeface="IBM Plex Sans" pitchFamily="34" charset="0"/>
                <a:ea typeface="IBM Plex Sans" pitchFamily="34" charset="-122"/>
                <a:cs typeface="IBM Plex Sans" pitchFamily="34" charset="-120"/>
              </a:rPr>
              <a:t>04 · DÉMARCHE</a:t>
            </a:r>
            <a:endParaRPr lang="en-US" sz="1200" dirty="0"/>
          </a:p>
        </p:txBody>
      </p:sp>
      <p:sp>
        <p:nvSpPr>
          <p:cNvPr id="3" name="Text 1"/>
          <p:cNvSpPr>
            <a:spLocks noGrp="1"/>
          </p:cNvSpPr>
          <p:nvPr>
            <p:ph type="title"/>
          </p:nvPr>
        </p:nvSpPr>
        <p:spPr>
          <a:xfrm>
            <a:off x="609600" y="734061"/>
            <a:ext cx="11301984" cy="41656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F1B2D"/>
                </a:solidFill>
                <a:latin typeface="DM Sans" pitchFamily="34" charset="0"/>
                <a:ea typeface="DM Sans" pitchFamily="34" charset="-122"/>
                <a:cs typeface="DM Sans" pitchFamily="34" charset="-120"/>
              </a:rPr>
              <a:t>Quatre modèles, une limite corrigée à chaque étape</a:t>
            </a:r>
            <a:endParaRPr lang="en-US" sz="2800" dirty="0"/>
          </a:p>
        </p:txBody>
      </p:sp>
      <p:sp>
        <p:nvSpPr>
          <p:cNvPr id="4" name="Text 2"/>
          <p:cNvSpPr/>
          <p:nvPr/>
        </p:nvSpPr>
        <p:spPr>
          <a:xfrm>
            <a:off x="609600" y="1303020"/>
            <a:ext cx="3572907" cy="469900"/>
          </a:xfrm>
          <a:prstGeom prst="roundRect">
            <a:avLst>
              <a:gd name="adj" fmla="val 16216"/>
            </a:avLst>
          </a:prstGeom>
          <a:solidFill>
            <a:srgbClr val="E4EEFB"/>
          </a:solidFill>
          <a:ln/>
        </p:spPr>
        <p:txBody>
          <a:bodyPr wrap="square" lIns="130082" tIns="79282" rIns="32039" bIns="53882" rtlCol="0" anchor="t">
            <a:normAutofit/>
          </a:bodyPr>
          <a:lstStyle/>
          <a:p>
            <a:pPr marL="0" indent="0" algn="l">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Split par patient (DS1 / DS2)</a:t>
            </a:r>
            <a:endParaRPr lang="en-US" sz="1500" dirty="0"/>
          </a:p>
        </p:txBody>
      </p:sp>
      <p:sp>
        <p:nvSpPr>
          <p:cNvPr id="5" name="Text 3"/>
          <p:cNvSpPr/>
          <p:nvPr/>
        </p:nvSpPr>
        <p:spPr>
          <a:xfrm>
            <a:off x="4309507" y="1303020"/>
            <a:ext cx="3572986" cy="469900"/>
          </a:xfrm>
          <a:prstGeom prst="roundRect">
            <a:avLst>
              <a:gd name="adj" fmla="val 16216"/>
            </a:avLst>
          </a:prstGeom>
          <a:solidFill>
            <a:srgbClr val="E4EEFB"/>
          </a:solidFill>
          <a:ln/>
        </p:spPr>
        <p:txBody>
          <a:bodyPr wrap="square" lIns="130082" tIns="79282" rIns="32036" bIns="53882" rtlCol="0" anchor="t">
            <a:normAutofit/>
          </a:bodyPr>
          <a:lstStyle/>
          <a:p>
            <a:pPr marL="0" indent="0" algn="l">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5 seeds, moyenne ± écart-type</a:t>
            </a:r>
            <a:endParaRPr lang="en-US" sz="1500" dirty="0"/>
          </a:p>
        </p:txBody>
      </p:sp>
      <p:sp>
        <p:nvSpPr>
          <p:cNvPr id="6" name="Text 4"/>
          <p:cNvSpPr/>
          <p:nvPr/>
        </p:nvSpPr>
        <p:spPr>
          <a:xfrm>
            <a:off x="8009493" y="1303020"/>
            <a:ext cx="3572907" cy="469900"/>
          </a:xfrm>
          <a:prstGeom prst="roundRect">
            <a:avLst>
              <a:gd name="adj" fmla="val 16216"/>
            </a:avLst>
          </a:prstGeom>
          <a:solidFill>
            <a:srgbClr val="E4EEFB"/>
          </a:solidFill>
          <a:ln/>
        </p:spPr>
        <p:txBody>
          <a:bodyPr wrap="square" lIns="130082" tIns="79282" rIns="32039" bIns="53882" rtlCol="0" anchor="t">
            <a:normAutofit/>
          </a:bodyPr>
          <a:lstStyle/>
          <a:p>
            <a:pPr marL="0" indent="0" algn="l">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Perte pondérée par classe</a:t>
            </a:r>
            <a:endParaRPr lang="en-US" sz="1500" dirty="0"/>
          </a:p>
        </p:txBody>
      </p:sp>
      <p:sp>
        <p:nvSpPr>
          <p:cNvPr id="7" name="Shape 5"/>
          <p:cNvSpPr/>
          <p:nvPr/>
        </p:nvSpPr>
        <p:spPr>
          <a:xfrm>
            <a:off x="612775" y="1953895"/>
            <a:ext cx="2470150" cy="2790190"/>
          </a:xfrm>
          <a:prstGeom prst="roundRect">
            <a:avLst>
              <a:gd name="adj" fmla="val 3985"/>
            </a:avLst>
          </a:prstGeom>
          <a:solidFill>
            <a:srgbClr val="FCFCFB"/>
          </a:solidFill>
          <a:ln w="6350">
            <a:solidFill>
              <a:srgbClr val="E1E0D9"/>
            </a:solidFill>
            <a:prstDash val="solid"/>
          </a:ln>
        </p:spPr>
        <p:txBody>
          <a:bodyPr/>
          <a:lstStyle/>
          <a:p>
            <a:endParaRPr lang="fr-FR"/>
          </a:p>
        </p:txBody>
      </p:sp>
      <p:sp>
        <p:nvSpPr>
          <p:cNvPr id="8" name="Text 6"/>
          <p:cNvSpPr/>
          <p:nvPr/>
        </p:nvSpPr>
        <p:spPr>
          <a:xfrm>
            <a:off x="792480" y="2133600"/>
            <a:ext cx="217406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5FB0"/>
                </a:solidFill>
                <a:latin typeface="IBM Plex Sans" pitchFamily="34" charset="0"/>
                <a:ea typeface="IBM Plex Sans" pitchFamily="34" charset="-122"/>
                <a:cs typeface="IBM Plex Sans" pitchFamily="34" charset="-120"/>
              </a:rPr>
              <a:t>Étape 1</a:t>
            </a:r>
            <a:endParaRPr lang="en-US" sz="1200" dirty="0"/>
          </a:p>
        </p:txBody>
      </p:sp>
      <p:sp>
        <p:nvSpPr>
          <p:cNvPr id="9" name="Text 7"/>
          <p:cNvSpPr/>
          <p:nvPr/>
        </p:nvSpPr>
        <p:spPr>
          <a:xfrm>
            <a:off x="792480" y="2410461"/>
            <a:ext cx="2174062"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0F1B2D"/>
                </a:solidFill>
                <a:latin typeface="DM Sans" pitchFamily="34" charset="0"/>
                <a:ea typeface="DM Sans" pitchFamily="34" charset="-122"/>
                <a:cs typeface="DM Sans" pitchFamily="34" charset="-120"/>
              </a:rPr>
              <a:t>Random Forest</a:t>
            </a:r>
            <a:endParaRPr lang="en-US" sz="2000" dirty="0"/>
          </a:p>
        </p:txBody>
      </p:sp>
      <p:sp>
        <p:nvSpPr>
          <p:cNvPr id="10" name="Text 8"/>
          <p:cNvSpPr/>
          <p:nvPr/>
        </p:nvSpPr>
        <p:spPr>
          <a:xfrm>
            <a:off x="792480" y="2753361"/>
            <a:ext cx="776288" cy="264160"/>
          </a:xfrm>
          <a:custGeom>
            <a:avLst/>
            <a:gdLst/>
            <a:ahLst/>
            <a:cxnLst/>
            <a:rect l="l" t="t" r="r" b="b"/>
            <a:pathLst>
              <a:path w="776288" h="264160">
                <a:moveTo>
                  <a:pt x="132080" y="0"/>
                </a:moveTo>
                <a:lnTo>
                  <a:pt x="644207" y="0"/>
                </a:lnTo>
                <a:arcTo wR="132080" hR="132080" stAng="16200000" swAng="5400000"/>
                <a:lnTo>
                  <a:pt x="776288" y="132080"/>
                </a:lnTo>
                <a:arcTo wR="132080" hR="132080" stAng="0" swAng="5400000"/>
                <a:lnTo>
                  <a:pt x="132080" y="264160"/>
                </a:lnTo>
                <a:arcTo wR="132080" hR="132080" stAng="5400000" swAng="5400000"/>
                <a:lnTo>
                  <a:pt x="0" y="132080"/>
                </a:lnTo>
                <a:arcTo wR="132080" hR="132080" stAng="10800000" swAng="5400000"/>
                <a:close/>
              </a:path>
            </a:pathLst>
          </a:custGeom>
          <a:solidFill>
            <a:srgbClr val="E4EEFB"/>
          </a:solidFill>
          <a:ln/>
        </p:spPr>
        <p:txBody>
          <a:bodyPr wrap="none" lIns="0" tIns="0" rIns="0" bIns="0" rtlCol="0" anchor="ctr">
            <a:normAutofit/>
          </a:bodyPr>
          <a:lstStyle/>
          <a:p>
            <a:pPr marL="0" indent="0" algn="ctr">
              <a:lnSpc>
                <a:spcPts val="1680"/>
              </a:lnSpc>
              <a:buNone/>
            </a:pPr>
            <a:r>
              <a:rPr lang="en-US" sz="1200" b="1" dirty="0">
                <a:solidFill>
                  <a:srgbClr val="1F5FB0"/>
                </a:solidFill>
                <a:latin typeface="IBM Plex Sans" pitchFamily="34" charset="0"/>
                <a:ea typeface="IBM Plex Sans" pitchFamily="34" charset="-122"/>
                <a:cs typeface="IBM Plex Sans" pitchFamily="34" charset="-120"/>
              </a:rPr>
              <a:t>Apporte</a:t>
            </a:r>
            <a:endParaRPr lang="en-US" sz="1200" dirty="0"/>
          </a:p>
        </p:txBody>
      </p:sp>
      <p:sp>
        <p:nvSpPr>
          <p:cNvPr id="11" name="Text 9"/>
          <p:cNvSpPr/>
          <p:nvPr/>
        </p:nvSpPr>
        <p:spPr>
          <a:xfrm>
            <a:off x="792480" y="3081020"/>
            <a:ext cx="2174062" cy="79692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7202E"/>
                </a:solidFill>
                <a:latin typeface="IBM Plex Sans" pitchFamily="34" charset="0"/>
                <a:ea typeface="IBM Plex Sans" pitchFamily="34" charset="-122"/>
                <a:cs typeface="IBM Plex Sans" pitchFamily="34" charset="-120"/>
              </a:rPr>
              <a:t>Un plancher de référence : features RR et QRS</a:t>
            </a:r>
            <a:endParaRPr lang="en-US" sz="1500" dirty="0"/>
          </a:p>
        </p:txBody>
      </p:sp>
      <p:sp>
        <p:nvSpPr>
          <p:cNvPr id="12" name="Text 10"/>
          <p:cNvSpPr/>
          <p:nvPr/>
        </p:nvSpPr>
        <p:spPr>
          <a:xfrm>
            <a:off x="792480" y="3979545"/>
            <a:ext cx="643255" cy="264160"/>
          </a:xfrm>
          <a:custGeom>
            <a:avLst/>
            <a:gdLst/>
            <a:ahLst/>
            <a:cxnLst/>
            <a:rect l="l" t="t" r="r" b="b"/>
            <a:pathLst>
              <a:path w="643255" h="264160">
                <a:moveTo>
                  <a:pt x="132080" y="0"/>
                </a:moveTo>
                <a:lnTo>
                  <a:pt x="511175" y="0"/>
                </a:lnTo>
                <a:arcTo wR="132080" hR="132080" stAng="16200000" swAng="5400000"/>
                <a:lnTo>
                  <a:pt x="643255" y="132080"/>
                </a:lnTo>
                <a:arcTo wR="132080" hR="132080" stAng="0" swAng="5400000"/>
                <a:lnTo>
                  <a:pt x="132080" y="264160"/>
                </a:lnTo>
                <a:arcTo wR="132080" hR="132080" stAng="5400000" swAng="5400000"/>
                <a:lnTo>
                  <a:pt x="0" y="132080"/>
                </a:lnTo>
                <a:arcTo wR="132080" hR="132080" stAng="10800000" swAng="5400000"/>
                <a:close/>
              </a:path>
            </a:pathLst>
          </a:custGeom>
          <a:solidFill>
            <a:srgbClr val="FBE3D9"/>
          </a:solidFill>
          <a:ln/>
        </p:spPr>
        <p:txBody>
          <a:bodyPr wrap="none" lIns="0" tIns="0" rIns="0" bIns="0" rtlCol="0" anchor="ctr">
            <a:normAutofit/>
          </a:bodyPr>
          <a:lstStyle/>
          <a:p>
            <a:pPr marL="0" indent="0" algn="ctr">
              <a:lnSpc>
                <a:spcPts val="1680"/>
              </a:lnSpc>
              <a:buNone/>
            </a:pPr>
            <a:r>
              <a:rPr lang="en-US" sz="1200" b="1" dirty="0">
                <a:solidFill>
                  <a:srgbClr val="B8431A"/>
                </a:solidFill>
                <a:latin typeface="IBM Plex Sans" pitchFamily="34" charset="0"/>
                <a:ea typeface="IBM Plex Sans" pitchFamily="34" charset="-122"/>
                <a:cs typeface="IBM Plex Sans" pitchFamily="34" charset="-120"/>
              </a:rPr>
              <a:t>Limite</a:t>
            </a:r>
            <a:endParaRPr lang="en-US" sz="1200" dirty="0"/>
          </a:p>
        </p:txBody>
      </p:sp>
      <p:sp>
        <p:nvSpPr>
          <p:cNvPr id="13" name="Text 11"/>
          <p:cNvSpPr/>
          <p:nvPr/>
        </p:nvSpPr>
        <p:spPr>
          <a:xfrm>
            <a:off x="792480" y="4307205"/>
            <a:ext cx="2287270"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7202E"/>
                </a:solidFill>
                <a:latin typeface="IBM Plex Sans" pitchFamily="34" charset="0"/>
                <a:ea typeface="IBM Plex Sans" pitchFamily="34" charset="-122"/>
                <a:cs typeface="IBM Plex Sans" pitchFamily="34" charset="-120"/>
              </a:rPr>
              <a:t>S et F presque invisibles</a:t>
            </a:r>
            <a:endParaRPr lang="en-US" sz="1500" dirty="0"/>
          </a:p>
        </p:txBody>
      </p:sp>
      <p:pic>
        <p:nvPicPr>
          <p:cNvPr id="14" name="Image 0" descr="arrow-right"/>
          <p:cNvPicPr>
            <a:picLocks noChangeAspect="1"/>
          </p:cNvPicPr>
          <p:nvPr/>
        </p:nvPicPr>
        <p:blipFill>
          <a:blip r:embed="rId3"/>
          <a:srcRect/>
          <a:stretch/>
        </p:blipFill>
        <p:spPr>
          <a:xfrm>
            <a:off x="3136900" y="3260091"/>
            <a:ext cx="254000" cy="177800"/>
          </a:xfrm>
          <a:prstGeom prst="rect">
            <a:avLst/>
          </a:prstGeom>
        </p:spPr>
      </p:pic>
      <p:sp>
        <p:nvSpPr>
          <p:cNvPr id="15" name="Shape 12"/>
          <p:cNvSpPr/>
          <p:nvPr/>
        </p:nvSpPr>
        <p:spPr>
          <a:xfrm>
            <a:off x="3444875" y="1953895"/>
            <a:ext cx="2470150" cy="2790190"/>
          </a:xfrm>
          <a:prstGeom prst="roundRect">
            <a:avLst>
              <a:gd name="adj" fmla="val 3985"/>
            </a:avLst>
          </a:prstGeom>
          <a:solidFill>
            <a:srgbClr val="FCFCFB"/>
          </a:solidFill>
          <a:ln w="6350">
            <a:solidFill>
              <a:srgbClr val="E1E0D9"/>
            </a:solidFill>
            <a:prstDash val="solid"/>
          </a:ln>
        </p:spPr>
        <p:txBody>
          <a:bodyPr/>
          <a:lstStyle/>
          <a:p>
            <a:endParaRPr lang="fr-FR"/>
          </a:p>
        </p:txBody>
      </p:sp>
      <p:sp>
        <p:nvSpPr>
          <p:cNvPr id="16" name="Text 13"/>
          <p:cNvSpPr/>
          <p:nvPr/>
        </p:nvSpPr>
        <p:spPr>
          <a:xfrm>
            <a:off x="3624580" y="2133600"/>
            <a:ext cx="217406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5FB0"/>
                </a:solidFill>
                <a:latin typeface="IBM Plex Sans" pitchFamily="34" charset="0"/>
                <a:ea typeface="IBM Plex Sans" pitchFamily="34" charset="-122"/>
                <a:cs typeface="IBM Plex Sans" pitchFamily="34" charset="-120"/>
              </a:rPr>
              <a:t>Étape 2</a:t>
            </a:r>
            <a:endParaRPr lang="en-US" sz="1200" dirty="0"/>
          </a:p>
        </p:txBody>
      </p:sp>
      <p:sp>
        <p:nvSpPr>
          <p:cNvPr id="17" name="Text 14"/>
          <p:cNvSpPr/>
          <p:nvPr/>
        </p:nvSpPr>
        <p:spPr>
          <a:xfrm>
            <a:off x="3624580" y="2410461"/>
            <a:ext cx="2174062"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0F1B2D"/>
                </a:solidFill>
                <a:latin typeface="DM Sans" pitchFamily="34" charset="0"/>
                <a:ea typeface="DM Sans" pitchFamily="34" charset="-122"/>
                <a:cs typeface="DM Sans" pitchFamily="34" charset="-120"/>
              </a:rPr>
              <a:t>CNN 1D</a:t>
            </a:r>
            <a:endParaRPr lang="en-US" sz="2000" dirty="0"/>
          </a:p>
        </p:txBody>
      </p:sp>
      <p:sp>
        <p:nvSpPr>
          <p:cNvPr id="18" name="Text 15"/>
          <p:cNvSpPr/>
          <p:nvPr/>
        </p:nvSpPr>
        <p:spPr>
          <a:xfrm>
            <a:off x="3624580" y="2753361"/>
            <a:ext cx="776288" cy="264160"/>
          </a:xfrm>
          <a:custGeom>
            <a:avLst/>
            <a:gdLst/>
            <a:ahLst/>
            <a:cxnLst/>
            <a:rect l="l" t="t" r="r" b="b"/>
            <a:pathLst>
              <a:path w="776288" h="264160">
                <a:moveTo>
                  <a:pt x="132080" y="0"/>
                </a:moveTo>
                <a:lnTo>
                  <a:pt x="644207" y="0"/>
                </a:lnTo>
                <a:arcTo wR="132080" hR="132080" stAng="16200000" swAng="5400000"/>
                <a:lnTo>
                  <a:pt x="776288" y="132080"/>
                </a:lnTo>
                <a:arcTo wR="132080" hR="132080" stAng="0" swAng="5400000"/>
                <a:lnTo>
                  <a:pt x="132080" y="264160"/>
                </a:lnTo>
                <a:arcTo wR="132080" hR="132080" stAng="5400000" swAng="5400000"/>
                <a:lnTo>
                  <a:pt x="0" y="132080"/>
                </a:lnTo>
                <a:arcTo wR="132080" hR="132080" stAng="10800000" swAng="5400000"/>
                <a:close/>
              </a:path>
            </a:pathLst>
          </a:custGeom>
          <a:solidFill>
            <a:srgbClr val="E4EEFB"/>
          </a:solidFill>
          <a:ln/>
        </p:spPr>
        <p:txBody>
          <a:bodyPr wrap="none" lIns="0" tIns="0" rIns="0" bIns="0" rtlCol="0" anchor="ctr">
            <a:normAutofit/>
          </a:bodyPr>
          <a:lstStyle/>
          <a:p>
            <a:pPr marL="0" indent="0" algn="ctr">
              <a:lnSpc>
                <a:spcPts val="1680"/>
              </a:lnSpc>
              <a:buNone/>
            </a:pPr>
            <a:r>
              <a:rPr lang="en-US" sz="1200" b="1" dirty="0">
                <a:solidFill>
                  <a:srgbClr val="1F5FB0"/>
                </a:solidFill>
                <a:latin typeface="IBM Plex Sans" pitchFamily="34" charset="0"/>
                <a:ea typeface="IBM Plex Sans" pitchFamily="34" charset="-122"/>
                <a:cs typeface="IBM Plex Sans" pitchFamily="34" charset="-120"/>
              </a:rPr>
              <a:t>Apporte</a:t>
            </a:r>
            <a:endParaRPr lang="en-US" sz="1200" dirty="0"/>
          </a:p>
        </p:txBody>
      </p:sp>
      <p:sp>
        <p:nvSpPr>
          <p:cNvPr id="19" name="Text 16"/>
          <p:cNvSpPr/>
          <p:nvPr/>
        </p:nvSpPr>
        <p:spPr>
          <a:xfrm>
            <a:off x="3624580" y="3081020"/>
            <a:ext cx="2174062"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7202E"/>
                </a:solidFill>
                <a:latin typeface="IBM Plex Sans" pitchFamily="34" charset="0"/>
                <a:ea typeface="IBM Plex Sans" pitchFamily="34" charset="-122"/>
                <a:cs typeface="IBM Plex Sans" pitchFamily="34" charset="-120"/>
              </a:rPr>
              <a:t>Apprend la forme du battement</a:t>
            </a:r>
            <a:endParaRPr lang="en-US" sz="1500" dirty="0"/>
          </a:p>
        </p:txBody>
      </p:sp>
      <p:sp>
        <p:nvSpPr>
          <p:cNvPr id="20" name="Text 17"/>
          <p:cNvSpPr/>
          <p:nvPr/>
        </p:nvSpPr>
        <p:spPr>
          <a:xfrm>
            <a:off x="3624580" y="3979545"/>
            <a:ext cx="643255" cy="264160"/>
          </a:xfrm>
          <a:custGeom>
            <a:avLst/>
            <a:gdLst/>
            <a:ahLst/>
            <a:cxnLst/>
            <a:rect l="l" t="t" r="r" b="b"/>
            <a:pathLst>
              <a:path w="643255" h="264160">
                <a:moveTo>
                  <a:pt x="132080" y="0"/>
                </a:moveTo>
                <a:lnTo>
                  <a:pt x="511175" y="0"/>
                </a:lnTo>
                <a:arcTo wR="132080" hR="132080" stAng="16200000" swAng="5400000"/>
                <a:lnTo>
                  <a:pt x="643255" y="132080"/>
                </a:lnTo>
                <a:arcTo wR="132080" hR="132080" stAng="0" swAng="5400000"/>
                <a:lnTo>
                  <a:pt x="132080" y="264160"/>
                </a:lnTo>
                <a:arcTo wR="132080" hR="132080" stAng="5400000" swAng="5400000"/>
                <a:lnTo>
                  <a:pt x="0" y="132080"/>
                </a:lnTo>
                <a:arcTo wR="132080" hR="132080" stAng="10800000" swAng="5400000"/>
                <a:close/>
              </a:path>
            </a:pathLst>
          </a:custGeom>
          <a:solidFill>
            <a:srgbClr val="FBE3D9"/>
          </a:solidFill>
          <a:ln/>
        </p:spPr>
        <p:txBody>
          <a:bodyPr wrap="none" lIns="0" tIns="0" rIns="0" bIns="0" rtlCol="0" anchor="ctr">
            <a:normAutofit/>
          </a:bodyPr>
          <a:lstStyle/>
          <a:p>
            <a:pPr marL="0" indent="0" algn="ctr">
              <a:lnSpc>
                <a:spcPts val="1680"/>
              </a:lnSpc>
              <a:buNone/>
            </a:pPr>
            <a:r>
              <a:rPr lang="en-US" sz="1200" b="1" dirty="0">
                <a:solidFill>
                  <a:srgbClr val="B8431A"/>
                </a:solidFill>
                <a:latin typeface="IBM Plex Sans" pitchFamily="34" charset="0"/>
                <a:ea typeface="IBM Plex Sans" pitchFamily="34" charset="-122"/>
                <a:cs typeface="IBM Plex Sans" pitchFamily="34" charset="-120"/>
              </a:rPr>
              <a:t>Limite</a:t>
            </a:r>
            <a:endParaRPr lang="en-US" sz="1200" dirty="0"/>
          </a:p>
        </p:txBody>
      </p:sp>
      <p:sp>
        <p:nvSpPr>
          <p:cNvPr id="21" name="Text 18"/>
          <p:cNvSpPr/>
          <p:nvPr/>
        </p:nvSpPr>
        <p:spPr>
          <a:xfrm>
            <a:off x="3624580" y="4307205"/>
            <a:ext cx="2174062"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7202E"/>
                </a:solidFill>
                <a:latin typeface="IBM Plex Sans" pitchFamily="34" charset="0"/>
                <a:ea typeface="IBM Plex Sans" pitchFamily="34" charset="-122"/>
                <a:cs typeface="IBM Plex Sans" pitchFamily="34" charset="-120"/>
              </a:rPr>
              <a:t>Aveugle au rythme</a:t>
            </a:r>
            <a:endParaRPr lang="en-US" sz="1500" dirty="0"/>
          </a:p>
        </p:txBody>
      </p:sp>
      <p:pic>
        <p:nvPicPr>
          <p:cNvPr id="22" name="Image 1" descr="arrow-right"/>
          <p:cNvPicPr>
            <a:picLocks noChangeAspect="1"/>
          </p:cNvPicPr>
          <p:nvPr/>
        </p:nvPicPr>
        <p:blipFill>
          <a:blip r:embed="rId3"/>
          <a:srcRect/>
          <a:stretch/>
        </p:blipFill>
        <p:spPr>
          <a:xfrm>
            <a:off x="5969000" y="3260091"/>
            <a:ext cx="254000" cy="177800"/>
          </a:xfrm>
          <a:prstGeom prst="rect">
            <a:avLst/>
          </a:prstGeom>
        </p:spPr>
      </p:pic>
      <p:sp>
        <p:nvSpPr>
          <p:cNvPr id="23" name="Shape 19"/>
          <p:cNvSpPr/>
          <p:nvPr/>
        </p:nvSpPr>
        <p:spPr>
          <a:xfrm>
            <a:off x="6276975" y="1953895"/>
            <a:ext cx="2470150" cy="2790190"/>
          </a:xfrm>
          <a:prstGeom prst="roundRect">
            <a:avLst>
              <a:gd name="adj" fmla="val 3985"/>
            </a:avLst>
          </a:prstGeom>
          <a:solidFill>
            <a:srgbClr val="FCFCFB"/>
          </a:solidFill>
          <a:ln w="6350">
            <a:solidFill>
              <a:srgbClr val="E1E0D9"/>
            </a:solidFill>
            <a:prstDash val="solid"/>
          </a:ln>
        </p:spPr>
        <p:txBody>
          <a:bodyPr/>
          <a:lstStyle/>
          <a:p>
            <a:endParaRPr lang="fr-FR"/>
          </a:p>
        </p:txBody>
      </p:sp>
      <p:sp>
        <p:nvSpPr>
          <p:cNvPr id="24" name="Text 20"/>
          <p:cNvSpPr/>
          <p:nvPr/>
        </p:nvSpPr>
        <p:spPr>
          <a:xfrm>
            <a:off x="6456680" y="2133600"/>
            <a:ext cx="217406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5FB0"/>
                </a:solidFill>
                <a:latin typeface="IBM Plex Sans" pitchFamily="34" charset="0"/>
                <a:ea typeface="IBM Plex Sans" pitchFamily="34" charset="-122"/>
                <a:cs typeface="IBM Plex Sans" pitchFamily="34" charset="-120"/>
              </a:rPr>
              <a:t>Étape 3</a:t>
            </a:r>
            <a:endParaRPr lang="en-US" sz="1200" dirty="0"/>
          </a:p>
        </p:txBody>
      </p:sp>
      <p:sp>
        <p:nvSpPr>
          <p:cNvPr id="25" name="Text 21"/>
          <p:cNvSpPr/>
          <p:nvPr/>
        </p:nvSpPr>
        <p:spPr>
          <a:xfrm>
            <a:off x="6456680" y="2410461"/>
            <a:ext cx="2174062"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0F1B2D"/>
                </a:solidFill>
                <a:latin typeface="DM Sans" pitchFamily="34" charset="0"/>
                <a:ea typeface="DM Sans" pitchFamily="34" charset="-122"/>
                <a:cs typeface="DM Sans" pitchFamily="34" charset="-120"/>
              </a:rPr>
              <a:t>CNN + rythme</a:t>
            </a:r>
            <a:endParaRPr lang="en-US" sz="2000" dirty="0"/>
          </a:p>
        </p:txBody>
      </p:sp>
      <p:sp>
        <p:nvSpPr>
          <p:cNvPr id="26" name="Text 22"/>
          <p:cNvSpPr/>
          <p:nvPr/>
        </p:nvSpPr>
        <p:spPr>
          <a:xfrm>
            <a:off x="6456680" y="2753361"/>
            <a:ext cx="776288" cy="264160"/>
          </a:xfrm>
          <a:custGeom>
            <a:avLst/>
            <a:gdLst/>
            <a:ahLst/>
            <a:cxnLst/>
            <a:rect l="l" t="t" r="r" b="b"/>
            <a:pathLst>
              <a:path w="776288" h="264160">
                <a:moveTo>
                  <a:pt x="132080" y="0"/>
                </a:moveTo>
                <a:lnTo>
                  <a:pt x="644207" y="0"/>
                </a:lnTo>
                <a:arcTo wR="132080" hR="132080" stAng="16200000" swAng="5400000"/>
                <a:lnTo>
                  <a:pt x="776288" y="132080"/>
                </a:lnTo>
                <a:arcTo wR="132080" hR="132080" stAng="0" swAng="5400000"/>
                <a:lnTo>
                  <a:pt x="132080" y="264160"/>
                </a:lnTo>
                <a:arcTo wR="132080" hR="132080" stAng="5400000" swAng="5400000"/>
                <a:lnTo>
                  <a:pt x="0" y="132080"/>
                </a:lnTo>
                <a:arcTo wR="132080" hR="132080" stAng="10800000" swAng="5400000"/>
                <a:close/>
              </a:path>
            </a:pathLst>
          </a:custGeom>
          <a:solidFill>
            <a:srgbClr val="E4EEFB"/>
          </a:solidFill>
          <a:ln/>
        </p:spPr>
        <p:txBody>
          <a:bodyPr wrap="none" lIns="0" tIns="0" rIns="0" bIns="0" rtlCol="0" anchor="ctr">
            <a:normAutofit/>
          </a:bodyPr>
          <a:lstStyle/>
          <a:p>
            <a:pPr marL="0" indent="0" algn="ctr">
              <a:lnSpc>
                <a:spcPts val="1680"/>
              </a:lnSpc>
              <a:buNone/>
            </a:pPr>
            <a:r>
              <a:rPr lang="en-US" sz="1200" b="1" dirty="0">
                <a:solidFill>
                  <a:srgbClr val="1F5FB0"/>
                </a:solidFill>
                <a:latin typeface="IBM Plex Sans" pitchFamily="34" charset="0"/>
                <a:ea typeface="IBM Plex Sans" pitchFamily="34" charset="-122"/>
                <a:cs typeface="IBM Plex Sans" pitchFamily="34" charset="-120"/>
              </a:rPr>
              <a:t>Apporte</a:t>
            </a:r>
            <a:endParaRPr lang="en-US" sz="1200" dirty="0"/>
          </a:p>
        </p:txBody>
      </p:sp>
      <p:sp>
        <p:nvSpPr>
          <p:cNvPr id="27" name="Text 23"/>
          <p:cNvSpPr/>
          <p:nvPr/>
        </p:nvSpPr>
        <p:spPr>
          <a:xfrm>
            <a:off x="6456680" y="3081020"/>
            <a:ext cx="2174062"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7202E"/>
                </a:solidFill>
                <a:latin typeface="IBM Plex Sans" pitchFamily="34" charset="0"/>
                <a:ea typeface="IBM Plex Sans" pitchFamily="34" charset="-122"/>
                <a:cs typeface="IBM Plex Sans" pitchFamily="34" charset="-120"/>
              </a:rPr>
              <a:t>3 ratios RR relatifs ajoutés à la forme</a:t>
            </a:r>
            <a:endParaRPr lang="en-US" sz="1500" dirty="0"/>
          </a:p>
        </p:txBody>
      </p:sp>
      <p:sp>
        <p:nvSpPr>
          <p:cNvPr id="28" name="Text 24"/>
          <p:cNvSpPr/>
          <p:nvPr/>
        </p:nvSpPr>
        <p:spPr>
          <a:xfrm>
            <a:off x="6456680" y="3979545"/>
            <a:ext cx="643255" cy="264160"/>
          </a:xfrm>
          <a:custGeom>
            <a:avLst/>
            <a:gdLst/>
            <a:ahLst/>
            <a:cxnLst/>
            <a:rect l="l" t="t" r="r" b="b"/>
            <a:pathLst>
              <a:path w="643255" h="264160">
                <a:moveTo>
                  <a:pt x="132080" y="0"/>
                </a:moveTo>
                <a:lnTo>
                  <a:pt x="511175" y="0"/>
                </a:lnTo>
                <a:arcTo wR="132080" hR="132080" stAng="16200000" swAng="5400000"/>
                <a:lnTo>
                  <a:pt x="643255" y="132080"/>
                </a:lnTo>
                <a:arcTo wR="132080" hR="132080" stAng="0" swAng="5400000"/>
                <a:lnTo>
                  <a:pt x="132080" y="264160"/>
                </a:lnTo>
                <a:arcTo wR="132080" hR="132080" stAng="5400000" swAng="5400000"/>
                <a:lnTo>
                  <a:pt x="0" y="132080"/>
                </a:lnTo>
                <a:arcTo wR="132080" hR="132080" stAng="10800000" swAng="5400000"/>
                <a:close/>
              </a:path>
            </a:pathLst>
          </a:custGeom>
          <a:solidFill>
            <a:srgbClr val="FBE3D9"/>
          </a:solidFill>
          <a:ln/>
        </p:spPr>
        <p:txBody>
          <a:bodyPr wrap="none" lIns="0" tIns="0" rIns="0" bIns="0" rtlCol="0" anchor="ctr">
            <a:normAutofit/>
          </a:bodyPr>
          <a:lstStyle/>
          <a:p>
            <a:pPr marL="0" indent="0" algn="ctr">
              <a:lnSpc>
                <a:spcPts val="1680"/>
              </a:lnSpc>
              <a:buNone/>
            </a:pPr>
            <a:r>
              <a:rPr lang="en-US" sz="1200" b="1" dirty="0">
                <a:solidFill>
                  <a:srgbClr val="B8431A"/>
                </a:solidFill>
                <a:latin typeface="IBM Plex Sans" pitchFamily="34" charset="0"/>
                <a:ea typeface="IBM Plex Sans" pitchFamily="34" charset="-122"/>
                <a:cs typeface="IBM Plex Sans" pitchFamily="34" charset="-120"/>
              </a:rPr>
              <a:t>Limite</a:t>
            </a:r>
            <a:endParaRPr lang="en-US" sz="1200" dirty="0"/>
          </a:p>
        </p:txBody>
      </p:sp>
      <p:sp>
        <p:nvSpPr>
          <p:cNvPr id="29" name="Text 25"/>
          <p:cNvSpPr/>
          <p:nvPr/>
        </p:nvSpPr>
        <p:spPr>
          <a:xfrm>
            <a:off x="6456680" y="4307205"/>
            <a:ext cx="2174062"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7202E"/>
                </a:solidFill>
                <a:latin typeface="IBM Plex Sans" pitchFamily="34" charset="0"/>
                <a:ea typeface="IBM Plex Sans" pitchFamily="34" charset="-122"/>
                <a:cs typeface="IBM Plex Sans" pitchFamily="34" charset="-120"/>
              </a:rPr>
              <a:t>Rythme codé à la main</a:t>
            </a:r>
            <a:endParaRPr lang="en-US" sz="1500" dirty="0"/>
          </a:p>
        </p:txBody>
      </p:sp>
      <p:pic>
        <p:nvPicPr>
          <p:cNvPr id="30" name="Image 2" descr="arrow-right"/>
          <p:cNvPicPr>
            <a:picLocks noChangeAspect="1"/>
          </p:cNvPicPr>
          <p:nvPr/>
        </p:nvPicPr>
        <p:blipFill>
          <a:blip r:embed="rId3"/>
          <a:srcRect/>
          <a:stretch/>
        </p:blipFill>
        <p:spPr>
          <a:xfrm>
            <a:off x="8801100" y="3260091"/>
            <a:ext cx="254000" cy="177800"/>
          </a:xfrm>
          <a:prstGeom prst="rect">
            <a:avLst/>
          </a:prstGeom>
        </p:spPr>
      </p:pic>
      <p:sp>
        <p:nvSpPr>
          <p:cNvPr id="31" name="Shape 26"/>
          <p:cNvSpPr/>
          <p:nvPr/>
        </p:nvSpPr>
        <p:spPr>
          <a:xfrm>
            <a:off x="9109075" y="1953895"/>
            <a:ext cx="2470150" cy="2790190"/>
          </a:xfrm>
          <a:prstGeom prst="roundRect">
            <a:avLst>
              <a:gd name="adj" fmla="val 3985"/>
            </a:avLst>
          </a:prstGeom>
          <a:solidFill>
            <a:srgbClr val="FCFCFB"/>
          </a:solidFill>
          <a:ln w="6350">
            <a:solidFill>
              <a:srgbClr val="E1E0D9"/>
            </a:solidFill>
            <a:prstDash val="solid"/>
          </a:ln>
        </p:spPr>
        <p:txBody>
          <a:bodyPr/>
          <a:lstStyle/>
          <a:p>
            <a:endParaRPr lang="fr-FR"/>
          </a:p>
        </p:txBody>
      </p:sp>
      <p:sp>
        <p:nvSpPr>
          <p:cNvPr id="32" name="Text 27"/>
          <p:cNvSpPr/>
          <p:nvPr/>
        </p:nvSpPr>
        <p:spPr>
          <a:xfrm>
            <a:off x="9288780" y="2133600"/>
            <a:ext cx="217406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5FB0"/>
                </a:solidFill>
                <a:latin typeface="IBM Plex Sans" pitchFamily="34" charset="0"/>
                <a:ea typeface="IBM Plex Sans" pitchFamily="34" charset="-122"/>
                <a:cs typeface="IBM Plex Sans" pitchFamily="34" charset="-120"/>
              </a:rPr>
              <a:t>Étape 4</a:t>
            </a:r>
            <a:endParaRPr lang="en-US" sz="1200" dirty="0"/>
          </a:p>
        </p:txBody>
      </p:sp>
      <p:sp>
        <p:nvSpPr>
          <p:cNvPr id="33" name="Text 28"/>
          <p:cNvSpPr/>
          <p:nvPr/>
        </p:nvSpPr>
        <p:spPr>
          <a:xfrm>
            <a:off x="9288780" y="2410461"/>
            <a:ext cx="2174062"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0F1B2D"/>
                </a:solidFill>
                <a:latin typeface="DM Sans" pitchFamily="34" charset="0"/>
                <a:ea typeface="DM Sans" pitchFamily="34" charset="-122"/>
                <a:cs typeface="DM Sans" pitchFamily="34" charset="-120"/>
              </a:rPr>
              <a:t>CNN-LSTM</a:t>
            </a:r>
            <a:endParaRPr lang="en-US" sz="2000" dirty="0"/>
          </a:p>
        </p:txBody>
      </p:sp>
      <p:sp>
        <p:nvSpPr>
          <p:cNvPr id="34" name="Text 29"/>
          <p:cNvSpPr/>
          <p:nvPr/>
        </p:nvSpPr>
        <p:spPr>
          <a:xfrm>
            <a:off x="9288780" y="2753361"/>
            <a:ext cx="776288" cy="264160"/>
          </a:xfrm>
          <a:custGeom>
            <a:avLst/>
            <a:gdLst/>
            <a:ahLst/>
            <a:cxnLst/>
            <a:rect l="l" t="t" r="r" b="b"/>
            <a:pathLst>
              <a:path w="776288" h="264160">
                <a:moveTo>
                  <a:pt x="132080" y="0"/>
                </a:moveTo>
                <a:lnTo>
                  <a:pt x="644207" y="0"/>
                </a:lnTo>
                <a:arcTo wR="132080" hR="132080" stAng="16200000" swAng="5400000"/>
                <a:lnTo>
                  <a:pt x="776288" y="132080"/>
                </a:lnTo>
                <a:arcTo wR="132080" hR="132080" stAng="0" swAng="5400000"/>
                <a:lnTo>
                  <a:pt x="132080" y="264160"/>
                </a:lnTo>
                <a:arcTo wR="132080" hR="132080" stAng="5400000" swAng="5400000"/>
                <a:lnTo>
                  <a:pt x="0" y="132080"/>
                </a:lnTo>
                <a:arcTo wR="132080" hR="132080" stAng="10800000" swAng="5400000"/>
                <a:close/>
              </a:path>
            </a:pathLst>
          </a:custGeom>
          <a:solidFill>
            <a:srgbClr val="E4EEFB"/>
          </a:solidFill>
          <a:ln/>
        </p:spPr>
        <p:txBody>
          <a:bodyPr wrap="none" lIns="0" tIns="0" rIns="0" bIns="0" rtlCol="0" anchor="ctr">
            <a:normAutofit/>
          </a:bodyPr>
          <a:lstStyle/>
          <a:p>
            <a:pPr marL="0" indent="0" algn="ctr">
              <a:lnSpc>
                <a:spcPts val="1680"/>
              </a:lnSpc>
              <a:buNone/>
            </a:pPr>
            <a:r>
              <a:rPr lang="en-US" sz="1200" b="1" dirty="0">
                <a:solidFill>
                  <a:srgbClr val="1F5FB0"/>
                </a:solidFill>
                <a:latin typeface="IBM Plex Sans" pitchFamily="34" charset="0"/>
                <a:ea typeface="IBM Plex Sans" pitchFamily="34" charset="-122"/>
                <a:cs typeface="IBM Plex Sans" pitchFamily="34" charset="-120"/>
              </a:rPr>
              <a:t>Apporte</a:t>
            </a:r>
            <a:endParaRPr lang="en-US" sz="1200" dirty="0"/>
          </a:p>
        </p:txBody>
      </p:sp>
      <p:sp>
        <p:nvSpPr>
          <p:cNvPr id="35" name="Text 30"/>
          <p:cNvSpPr/>
          <p:nvPr/>
        </p:nvSpPr>
        <p:spPr>
          <a:xfrm>
            <a:off x="9288780" y="3081020"/>
            <a:ext cx="2174062"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7202E"/>
                </a:solidFill>
                <a:latin typeface="IBM Plex Sans" pitchFamily="34" charset="0"/>
                <a:ea typeface="IBM Plex Sans" pitchFamily="34" charset="-122"/>
                <a:cs typeface="IBM Plex Sans" pitchFamily="34" charset="-120"/>
              </a:rPr>
              <a:t>Lit 9 battements, avec attention</a:t>
            </a:r>
            <a:endParaRPr lang="en-US" sz="1500" dirty="0"/>
          </a:p>
        </p:txBody>
      </p:sp>
      <p:sp>
        <p:nvSpPr>
          <p:cNvPr id="36" name="Text 31"/>
          <p:cNvSpPr/>
          <p:nvPr/>
        </p:nvSpPr>
        <p:spPr>
          <a:xfrm>
            <a:off x="9288780" y="3722370"/>
            <a:ext cx="643255" cy="264160"/>
          </a:xfrm>
          <a:custGeom>
            <a:avLst/>
            <a:gdLst/>
            <a:ahLst/>
            <a:cxnLst/>
            <a:rect l="l" t="t" r="r" b="b"/>
            <a:pathLst>
              <a:path w="643255" h="264160">
                <a:moveTo>
                  <a:pt x="132080" y="0"/>
                </a:moveTo>
                <a:lnTo>
                  <a:pt x="511175" y="0"/>
                </a:lnTo>
                <a:arcTo wR="132080" hR="132080" stAng="16200000" swAng="5400000"/>
                <a:lnTo>
                  <a:pt x="643255" y="132080"/>
                </a:lnTo>
                <a:arcTo wR="132080" hR="132080" stAng="0" swAng="5400000"/>
                <a:lnTo>
                  <a:pt x="132080" y="264160"/>
                </a:lnTo>
                <a:arcTo wR="132080" hR="132080" stAng="5400000" swAng="5400000"/>
                <a:lnTo>
                  <a:pt x="0" y="132080"/>
                </a:lnTo>
                <a:arcTo wR="132080" hR="132080" stAng="10800000" swAng="5400000"/>
                <a:close/>
              </a:path>
            </a:pathLst>
          </a:custGeom>
          <a:solidFill>
            <a:srgbClr val="FBE3D9"/>
          </a:solidFill>
          <a:ln/>
        </p:spPr>
        <p:txBody>
          <a:bodyPr wrap="none" lIns="0" tIns="0" rIns="0" bIns="0" rtlCol="0" anchor="ctr">
            <a:normAutofit/>
          </a:bodyPr>
          <a:lstStyle/>
          <a:p>
            <a:pPr marL="0" indent="0" algn="ctr">
              <a:lnSpc>
                <a:spcPts val="1680"/>
              </a:lnSpc>
              <a:buNone/>
            </a:pPr>
            <a:r>
              <a:rPr lang="en-US" sz="1200" b="1" dirty="0">
                <a:solidFill>
                  <a:srgbClr val="B8431A"/>
                </a:solidFill>
                <a:latin typeface="IBM Plex Sans" pitchFamily="34" charset="0"/>
                <a:ea typeface="IBM Plex Sans" pitchFamily="34" charset="-122"/>
                <a:cs typeface="IBM Plex Sans" pitchFamily="34" charset="-120"/>
              </a:rPr>
              <a:t>Limite</a:t>
            </a:r>
            <a:endParaRPr lang="en-US" sz="1200" dirty="0"/>
          </a:p>
        </p:txBody>
      </p:sp>
      <p:sp>
        <p:nvSpPr>
          <p:cNvPr id="37" name="Text 32"/>
          <p:cNvSpPr/>
          <p:nvPr/>
        </p:nvSpPr>
        <p:spPr>
          <a:xfrm>
            <a:off x="9288780" y="4050030"/>
            <a:ext cx="2174062"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7202E"/>
                </a:solidFill>
                <a:latin typeface="IBM Plex Sans" pitchFamily="34" charset="0"/>
                <a:ea typeface="IBM Plex Sans" pitchFamily="34" charset="-122"/>
                <a:cs typeface="IBM Plex Sans" pitchFamily="34" charset="-120"/>
              </a:rPr>
              <a:t>Peu stable ; F porté par un seul patient</a:t>
            </a:r>
            <a:endParaRPr lang="en-US" sz="1500" dirty="0"/>
          </a:p>
        </p:txBody>
      </p:sp>
      <p:sp>
        <p:nvSpPr>
          <p:cNvPr id="38" name="Text 33"/>
          <p:cNvSpPr/>
          <p:nvPr/>
        </p:nvSpPr>
        <p:spPr>
          <a:xfrm>
            <a:off x="609600" y="4925061"/>
            <a:ext cx="11301984"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4A5568"/>
                </a:solidFill>
                <a:latin typeface="IBM Plex Sans" pitchFamily="34" charset="0"/>
                <a:ea typeface="IBM Plex Sans" pitchFamily="34" charset="-122"/>
                <a:cs typeface="IBM Plex Sans" pitchFamily="34" charset="-120"/>
              </a:rPr>
              <a:t>Chaque modèle est choisi pour corriger la limite mesurée sur le précédent.</a:t>
            </a:r>
            <a:endParaRPr lang="en-US" sz="1500" dirty="0"/>
          </a:p>
        </p:txBody>
      </p:sp>
      <p:sp>
        <p:nvSpPr>
          <p:cNvPr id="39" name="Text 34"/>
          <p:cNvSpPr/>
          <p:nvPr/>
        </p:nvSpPr>
        <p:spPr>
          <a:xfrm>
            <a:off x="609600" y="6365239"/>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Classification de séries temporelles ECG · MIT-BIH · résultats intermédiaires</a:t>
            </a:r>
            <a:endParaRPr lang="en-US" sz="1200" dirty="0"/>
          </a:p>
        </p:txBody>
      </p:sp>
      <p:sp>
        <p:nvSpPr>
          <p:cNvPr id="40" name="Text 35"/>
          <p:cNvSpPr/>
          <p:nvPr/>
        </p:nvSpPr>
        <p:spPr>
          <a:xfrm>
            <a:off x="10261600" y="6365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IBM Plex Sans" pitchFamily="34" charset="0"/>
                <a:ea typeface="IBM Plex Sans" pitchFamily="34" charset="-122"/>
                <a:cs typeface="IBM Plex Sans" pitchFamily="34" charset="-120"/>
              </a:rPr>
              <a:t>4 / 10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6F2"/>
        </a:solidFill>
        <a:effectLst/>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F5FB0"/>
                </a:solidFill>
                <a:latin typeface="IBM Plex Sans" pitchFamily="34" charset="0"/>
                <a:ea typeface="IBM Plex Sans" pitchFamily="34" charset="-122"/>
                <a:cs typeface="IBM Plex Sans" pitchFamily="34" charset="-120"/>
              </a:rPr>
              <a:t>05 · RANDOM FOREST</a:t>
            </a:r>
            <a:endParaRPr lang="en-US" sz="1200" dirty="0"/>
          </a:p>
        </p:txBody>
      </p:sp>
      <p:sp>
        <p:nvSpPr>
          <p:cNvPr id="3" name="Text 1"/>
          <p:cNvSpPr>
            <a:spLocks noGrp="1"/>
          </p:cNvSpPr>
          <p:nvPr>
            <p:ph type="title"/>
          </p:nvPr>
        </p:nvSpPr>
        <p:spPr>
          <a:xfrm>
            <a:off x="609600" y="734061"/>
            <a:ext cx="11301984" cy="41656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F1B2D"/>
                </a:solidFill>
                <a:latin typeface="DM Sans" pitchFamily="34" charset="0"/>
                <a:ea typeface="DM Sans" pitchFamily="34" charset="-122"/>
                <a:cs typeface="DM Sans" pitchFamily="34" charset="-120"/>
              </a:rPr>
              <a:t>Random Forest : un plancher de référence</a:t>
            </a:r>
            <a:endParaRPr lang="en-US" sz="2800" dirty="0"/>
          </a:p>
        </p:txBody>
      </p:sp>
      <p:sp>
        <p:nvSpPr>
          <p:cNvPr id="4" name="Shape 2"/>
          <p:cNvSpPr/>
          <p:nvPr/>
        </p:nvSpPr>
        <p:spPr>
          <a:xfrm>
            <a:off x="612775" y="1306196"/>
            <a:ext cx="2472690" cy="737870"/>
          </a:xfrm>
          <a:prstGeom prst="roundRect">
            <a:avLst>
              <a:gd name="adj" fmla="val 13339"/>
            </a:avLst>
          </a:prstGeom>
          <a:solidFill>
            <a:srgbClr val="E4EEFB"/>
          </a:solidFill>
          <a:ln w="6350">
            <a:solidFill>
              <a:srgbClr val="BFD6F4"/>
            </a:solidFill>
            <a:prstDash val="solid"/>
          </a:ln>
        </p:spPr>
        <p:txBody>
          <a:bodyPr/>
          <a:lstStyle/>
          <a:p>
            <a:endParaRPr lang="fr-FR"/>
          </a:p>
        </p:txBody>
      </p:sp>
      <p:sp>
        <p:nvSpPr>
          <p:cNvPr id="5" name="Text 3"/>
          <p:cNvSpPr/>
          <p:nvPr/>
        </p:nvSpPr>
        <p:spPr>
          <a:xfrm>
            <a:off x="716280" y="1422400"/>
            <a:ext cx="2333651"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D"/>
                </a:solidFill>
                <a:latin typeface="DM Sans" pitchFamily="34" charset="0"/>
                <a:ea typeface="DM Sans" pitchFamily="34" charset="-122"/>
                <a:cs typeface="DM Sans" pitchFamily="34" charset="-120"/>
              </a:rPr>
              <a:t>Battement</a:t>
            </a:r>
            <a:endParaRPr lang="en-US" sz="1500" dirty="0"/>
          </a:p>
        </p:txBody>
      </p:sp>
      <p:sp>
        <p:nvSpPr>
          <p:cNvPr id="6" name="Text 4"/>
          <p:cNvSpPr/>
          <p:nvPr/>
        </p:nvSpPr>
        <p:spPr>
          <a:xfrm>
            <a:off x="716280" y="1714500"/>
            <a:ext cx="233365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216 échantillons</a:t>
            </a:r>
            <a:endParaRPr lang="en-US" sz="1200" dirty="0"/>
          </a:p>
        </p:txBody>
      </p:sp>
      <p:pic>
        <p:nvPicPr>
          <p:cNvPr id="7" name="Image 0" descr="arrow-right"/>
          <p:cNvPicPr>
            <a:picLocks noChangeAspect="1"/>
          </p:cNvPicPr>
          <p:nvPr/>
        </p:nvPicPr>
        <p:blipFill>
          <a:blip r:embed="rId3"/>
          <a:srcRect/>
          <a:stretch/>
        </p:blipFill>
        <p:spPr>
          <a:xfrm>
            <a:off x="3139440" y="1586232"/>
            <a:ext cx="254000" cy="177800"/>
          </a:xfrm>
          <a:prstGeom prst="rect">
            <a:avLst/>
          </a:prstGeom>
        </p:spPr>
      </p:pic>
      <p:sp>
        <p:nvSpPr>
          <p:cNvPr id="8" name="Shape 5"/>
          <p:cNvSpPr/>
          <p:nvPr/>
        </p:nvSpPr>
        <p:spPr>
          <a:xfrm>
            <a:off x="3447415" y="1306196"/>
            <a:ext cx="2472690" cy="737870"/>
          </a:xfrm>
          <a:prstGeom prst="roundRect">
            <a:avLst>
              <a:gd name="adj" fmla="val 13339"/>
            </a:avLst>
          </a:prstGeom>
          <a:solidFill>
            <a:srgbClr val="E4EEFB"/>
          </a:solidFill>
          <a:ln w="6350">
            <a:solidFill>
              <a:srgbClr val="BFD6F4"/>
            </a:solidFill>
            <a:prstDash val="solid"/>
          </a:ln>
        </p:spPr>
        <p:txBody>
          <a:bodyPr/>
          <a:lstStyle/>
          <a:p>
            <a:endParaRPr lang="fr-FR"/>
          </a:p>
        </p:txBody>
      </p:sp>
      <p:sp>
        <p:nvSpPr>
          <p:cNvPr id="9" name="Text 6"/>
          <p:cNvSpPr/>
          <p:nvPr/>
        </p:nvSpPr>
        <p:spPr>
          <a:xfrm>
            <a:off x="3550920" y="1422400"/>
            <a:ext cx="2333651"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D"/>
                </a:solidFill>
                <a:latin typeface="DM Sans" pitchFamily="34" charset="0"/>
                <a:ea typeface="DM Sans" pitchFamily="34" charset="-122"/>
                <a:cs typeface="DM Sans" pitchFamily="34" charset="-120"/>
              </a:rPr>
              <a:t>28 features</a:t>
            </a:r>
            <a:endParaRPr lang="en-US" sz="1500" dirty="0"/>
          </a:p>
        </p:txBody>
      </p:sp>
      <p:sp>
        <p:nvSpPr>
          <p:cNvPr id="10" name="Text 7"/>
          <p:cNvSpPr/>
          <p:nvPr/>
        </p:nvSpPr>
        <p:spPr>
          <a:xfrm>
            <a:off x="3550920" y="1714500"/>
            <a:ext cx="233365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22 de forme + 6 de rythme</a:t>
            </a:r>
            <a:endParaRPr lang="en-US" sz="1200" dirty="0"/>
          </a:p>
        </p:txBody>
      </p:sp>
      <p:pic>
        <p:nvPicPr>
          <p:cNvPr id="11" name="Image 1" descr="arrow-right"/>
          <p:cNvPicPr>
            <a:picLocks noChangeAspect="1"/>
          </p:cNvPicPr>
          <p:nvPr/>
        </p:nvPicPr>
        <p:blipFill>
          <a:blip r:embed="rId3"/>
          <a:srcRect/>
          <a:stretch/>
        </p:blipFill>
        <p:spPr>
          <a:xfrm>
            <a:off x="5974080" y="1586232"/>
            <a:ext cx="254000" cy="177800"/>
          </a:xfrm>
          <a:prstGeom prst="rect">
            <a:avLst/>
          </a:prstGeom>
        </p:spPr>
      </p:pic>
      <p:sp>
        <p:nvSpPr>
          <p:cNvPr id="12" name="Shape 8"/>
          <p:cNvSpPr/>
          <p:nvPr/>
        </p:nvSpPr>
        <p:spPr>
          <a:xfrm>
            <a:off x="6282055" y="1306196"/>
            <a:ext cx="2472690" cy="737870"/>
          </a:xfrm>
          <a:prstGeom prst="roundRect">
            <a:avLst>
              <a:gd name="adj" fmla="val 13339"/>
            </a:avLst>
          </a:prstGeom>
          <a:solidFill>
            <a:srgbClr val="E4EEFB"/>
          </a:solidFill>
          <a:ln w="6350">
            <a:solidFill>
              <a:srgbClr val="BFD6F4"/>
            </a:solidFill>
            <a:prstDash val="solid"/>
          </a:ln>
        </p:spPr>
        <p:txBody>
          <a:bodyPr/>
          <a:lstStyle/>
          <a:p>
            <a:endParaRPr lang="fr-FR"/>
          </a:p>
        </p:txBody>
      </p:sp>
      <p:sp>
        <p:nvSpPr>
          <p:cNvPr id="13" name="Text 9"/>
          <p:cNvSpPr/>
          <p:nvPr/>
        </p:nvSpPr>
        <p:spPr>
          <a:xfrm>
            <a:off x="6385560" y="1422400"/>
            <a:ext cx="2333651"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D"/>
                </a:solidFill>
                <a:latin typeface="DM Sans" pitchFamily="34" charset="0"/>
                <a:ea typeface="DM Sans" pitchFamily="34" charset="-122"/>
                <a:cs typeface="DM Sans" pitchFamily="34" charset="-120"/>
              </a:rPr>
              <a:t>Random Forest</a:t>
            </a:r>
            <a:endParaRPr lang="en-US" sz="1500" dirty="0"/>
          </a:p>
        </p:txBody>
      </p:sp>
      <p:sp>
        <p:nvSpPr>
          <p:cNvPr id="14" name="Text 10"/>
          <p:cNvSpPr/>
          <p:nvPr/>
        </p:nvSpPr>
        <p:spPr>
          <a:xfrm>
            <a:off x="6385560" y="1714500"/>
            <a:ext cx="233365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300 arbres équilibrés</a:t>
            </a:r>
            <a:endParaRPr lang="en-US" sz="1200" dirty="0"/>
          </a:p>
        </p:txBody>
      </p:sp>
      <p:pic>
        <p:nvPicPr>
          <p:cNvPr id="15" name="Image 2" descr="arrow-right"/>
          <p:cNvPicPr>
            <a:picLocks noChangeAspect="1"/>
          </p:cNvPicPr>
          <p:nvPr/>
        </p:nvPicPr>
        <p:blipFill>
          <a:blip r:embed="rId3"/>
          <a:srcRect/>
          <a:stretch/>
        </p:blipFill>
        <p:spPr>
          <a:xfrm>
            <a:off x="8808720" y="1586232"/>
            <a:ext cx="254000" cy="177800"/>
          </a:xfrm>
          <a:prstGeom prst="rect">
            <a:avLst/>
          </a:prstGeom>
        </p:spPr>
      </p:pic>
      <p:sp>
        <p:nvSpPr>
          <p:cNvPr id="16" name="Shape 11"/>
          <p:cNvSpPr/>
          <p:nvPr/>
        </p:nvSpPr>
        <p:spPr>
          <a:xfrm>
            <a:off x="9113520" y="1303021"/>
            <a:ext cx="2468880" cy="744220"/>
          </a:xfrm>
          <a:prstGeom prst="roundRect">
            <a:avLst>
              <a:gd name="adj" fmla="val 13652"/>
            </a:avLst>
          </a:prstGeom>
          <a:solidFill>
            <a:srgbClr val="0F1B2D"/>
          </a:solidFill>
          <a:ln/>
        </p:spPr>
        <p:txBody>
          <a:bodyPr/>
          <a:lstStyle/>
          <a:p>
            <a:endParaRPr lang="fr-FR"/>
          </a:p>
        </p:txBody>
      </p:sp>
      <p:sp>
        <p:nvSpPr>
          <p:cNvPr id="17" name="Text 12"/>
          <p:cNvSpPr/>
          <p:nvPr/>
        </p:nvSpPr>
        <p:spPr>
          <a:xfrm>
            <a:off x="9215120" y="1417321"/>
            <a:ext cx="2333651"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6F6F2"/>
                </a:solidFill>
                <a:latin typeface="DM Sans" pitchFamily="34" charset="0"/>
                <a:ea typeface="DM Sans" pitchFamily="34" charset="-122"/>
                <a:cs typeface="DM Sans" pitchFamily="34" charset="-120"/>
              </a:rPr>
              <a:t>Classe</a:t>
            </a:r>
            <a:endParaRPr lang="en-US" sz="1500" dirty="0"/>
          </a:p>
        </p:txBody>
      </p:sp>
      <p:sp>
        <p:nvSpPr>
          <p:cNvPr id="18" name="Text 13"/>
          <p:cNvSpPr/>
          <p:nvPr/>
        </p:nvSpPr>
        <p:spPr>
          <a:xfrm>
            <a:off x="9215120" y="1709421"/>
            <a:ext cx="233365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4D6"/>
                </a:solidFill>
                <a:latin typeface="IBM Plex Sans" pitchFamily="34" charset="0"/>
                <a:ea typeface="IBM Plex Sans" pitchFamily="34" charset="-122"/>
                <a:cs typeface="IBM Plex Sans" pitchFamily="34" charset="-120"/>
              </a:rPr>
              <a:t>N, S, V, F, Q</a:t>
            </a:r>
            <a:endParaRPr lang="en-US" sz="1200" dirty="0"/>
          </a:p>
        </p:txBody>
      </p:sp>
      <p:sp>
        <p:nvSpPr>
          <p:cNvPr id="19" name="Shape 14"/>
          <p:cNvSpPr/>
          <p:nvPr/>
        </p:nvSpPr>
        <p:spPr>
          <a:xfrm>
            <a:off x="612775" y="2228214"/>
            <a:ext cx="6597650" cy="2537460"/>
          </a:xfrm>
          <a:prstGeom prst="roundRect">
            <a:avLst>
              <a:gd name="adj" fmla="val 3879"/>
            </a:avLst>
          </a:prstGeom>
          <a:solidFill>
            <a:srgbClr val="FCFCFB"/>
          </a:solidFill>
          <a:ln w="6350">
            <a:solidFill>
              <a:srgbClr val="E1E0D9"/>
            </a:solidFill>
            <a:prstDash val="solid"/>
          </a:ln>
        </p:spPr>
        <p:txBody>
          <a:bodyPr/>
          <a:lstStyle/>
          <a:p>
            <a:endParaRPr lang="fr-FR"/>
          </a:p>
        </p:txBody>
      </p:sp>
      <p:pic>
        <p:nvPicPr>
          <p:cNvPr id="20" name="Image 3" descr="Matrice de confusion du Random Forest sur le test et importance des features"/>
          <p:cNvPicPr>
            <a:picLocks noChangeAspect="1"/>
          </p:cNvPicPr>
          <p:nvPr/>
        </p:nvPicPr>
        <p:blipFill>
          <a:blip r:embed="rId4"/>
          <a:srcRect t="-74" b="-74"/>
          <a:stretch/>
        </p:blipFill>
        <p:spPr>
          <a:xfrm>
            <a:off x="716280" y="2331721"/>
            <a:ext cx="6390640" cy="2330450"/>
          </a:xfrm>
          <a:prstGeom prst="rect">
            <a:avLst/>
          </a:prstGeom>
        </p:spPr>
      </p:pic>
      <p:sp>
        <p:nvSpPr>
          <p:cNvPr id="21" name="Shape 15"/>
          <p:cNvSpPr/>
          <p:nvPr/>
        </p:nvSpPr>
        <p:spPr>
          <a:xfrm>
            <a:off x="7394575" y="2228214"/>
            <a:ext cx="4184650" cy="2537460"/>
          </a:xfrm>
          <a:prstGeom prst="roundRect">
            <a:avLst>
              <a:gd name="adj" fmla="val 3879"/>
            </a:avLst>
          </a:prstGeom>
          <a:solidFill>
            <a:srgbClr val="FCFCFB"/>
          </a:solidFill>
          <a:ln w="6350">
            <a:solidFill>
              <a:srgbClr val="E1E0D9"/>
            </a:solidFill>
            <a:prstDash val="solid"/>
          </a:ln>
        </p:spPr>
        <p:txBody>
          <a:bodyPr/>
          <a:lstStyle/>
          <a:p>
            <a:endParaRPr lang="fr-FR"/>
          </a:p>
        </p:txBody>
      </p:sp>
      <p:sp>
        <p:nvSpPr>
          <p:cNvPr id="22" name="Text 16"/>
          <p:cNvSpPr/>
          <p:nvPr/>
        </p:nvSpPr>
        <p:spPr>
          <a:xfrm>
            <a:off x="7548880" y="2699386"/>
            <a:ext cx="399232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F1 sur le test</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559040" y="2973706"/>
          <a:ext cx="3865880" cy="1320800"/>
        </p:xfrm>
        <a:graphic>
          <a:graphicData uri="http://schemas.openxmlformats.org/drawingml/2006/table">
            <a:tbl>
              <a:tblPr/>
              <a:tblGrid>
                <a:gridCol w="1137024">
                  <a:extLst>
                    <a:ext uri="{9D8B030D-6E8A-4147-A177-3AD203B41FA5}">
                      <a16:colId xmlns:a16="http://schemas.microsoft.com/office/drawing/2014/main" val="20000"/>
                    </a:ext>
                  </a:extLst>
                </a:gridCol>
                <a:gridCol w="682214">
                  <a:extLst>
                    <a:ext uri="{9D8B030D-6E8A-4147-A177-3AD203B41FA5}">
                      <a16:colId xmlns:a16="http://schemas.microsoft.com/office/drawing/2014/main" val="20001"/>
                    </a:ext>
                  </a:extLst>
                </a:gridCol>
                <a:gridCol w="682214">
                  <a:extLst>
                    <a:ext uri="{9D8B030D-6E8A-4147-A177-3AD203B41FA5}">
                      <a16:colId xmlns:a16="http://schemas.microsoft.com/office/drawing/2014/main" val="20002"/>
                    </a:ext>
                  </a:extLst>
                </a:gridCol>
                <a:gridCol w="682214">
                  <a:extLst>
                    <a:ext uri="{9D8B030D-6E8A-4147-A177-3AD203B41FA5}">
                      <a16:colId xmlns:a16="http://schemas.microsoft.com/office/drawing/2014/main" val="20003"/>
                    </a:ext>
                  </a:extLst>
                </a:gridCol>
                <a:gridCol w="682214">
                  <a:extLst>
                    <a:ext uri="{9D8B030D-6E8A-4147-A177-3AD203B41FA5}">
                      <a16:colId xmlns:a16="http://schemas.microsoft.com/office/drawing/2014/main" val="20004"/>
                    </a:ext>
                  </a:extLst>
                </a:gridCol>
              </a:tblGrid>
              <a:tr h="330200">
                <a:tc>
                  <a:txBody>
                    <a:bodyPr/>
                    <a:lstStyle/>
                    <a:p>
                      <a:pPr marL="0" indent="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Features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marL="0" indent="0" algn="r">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Macro</a:t>
                      </a:r>
                      <a:endParaRPr lang="en-US" sz="1200" dirty="0">
                        <a:latin typeface="IBM Plex Sans" charset="0"/>
                        <a:ea typeface="IBM Plex Sans" charset="0"/>
                        <a:cs typeface="IBM Plex Sans" charset="0"/>
                      </a:endParaRPr>
                    </a:p>
                  </a:txBody>
                  <a:tcPr marL="53340" marR="53340" marT="53340" marB="53340">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marL="0" indent="0" algn="r">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N</a:t>
                      </a:r>
                      <a:endParaRPr lang="en-US" sz="1200" dirty="0">
                        <a:latin typeface="IBM Plex Sans" charset="0"/>
                        <a:ea typeface="IBM Plex Sans" charset="0"/>
                        <a:cs typeface="IBM Plex Sans" charset="0"/>
                      </a:endParaRPr>
                    </a:p>
                  </a:txBody>
                  <a:tcPr marL="53340" marR="53340" marT="53340" marB="53340">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marL="0" indent="0" algn="r">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S</a:t>
                      </a:r>
                      <a:endParaRPr lang="en-US" sz="1200" dirty="0">
                        <a:latin typeface="IBM Plex Sans" charset="0"/>
                        <a:ea typeface="IBM Plex Sans" charset="0"/>
                        <a:cs typeface="IBM Plex Sans" charset="0"/>
                      </a:endParaRPr>
                    </a:p>
                  </a:txBody>
                  <a:tcPr marL="53340" marR="53340" marT="53340" marB="53340">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marL="0" indent="0" algn="r">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V</a:t>
                      </a:r>
                      <a:endParaRPr lang="en-US" sz="1200" dirty="0">
                        <a:latin typeface="IBM Plex Sans" charset="0"/>
                        <a:ea typeface="IBM Plex Sans" charset="0"/>
                        <a:cs typeface="IBM Plex Sans" charset="0"/>
                      </a:endParaRPr>
                    </a:p>
                  </a:txBody>
                  <a:tcPr marL="53340" marR="53340" marT="53340" marB="53340">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7202E"/>
                          </a:solidFill>
                          <a:latin typeface="IBM Plex Sans" pitchFamily="34" charset="0"/>
                          <a:ea typeface="IBM Plex Sans" pitchFamily="34" charset="-122"/>
                          <a:cs typeface="IBM Plex Sans" pitchFamily="34" charset="-120"/>
                        </a:rPr>
                        <a:t>Forme seule</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0,447</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0,960</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0,019</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0,809</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7202E"/>
                          </a:solidFill>
                          <a:latin typeface="IBM Plex Sans" pitchFamily="34" charset="0"/>
                          <a:ea typeface="IBM Plex Sans" pitchFamily="34" charset="-122"/>
                          <a:cs typeface="IBM Plex Sans" pitchFamily="34" charset="-120"/>
                        </a:rPr>
                        <a:t>RR seuls</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0,448</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0,964</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0,148</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0,675</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7202E"/>
                          </a:solidFill>
                          <a:latin typeface="IBM Plex Sans" pitchFamily="34" charset="0"/>
                          <a:ea typeface="IBM Plex Sans" pitchFamily="34" charset="-122"/>
                          <a:cs typeface="IBM Plex Sans" pitchFamily="34" charset="-120"/>
                        </a:rPr>
                        <a:t>Forme + RR</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0,501</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0,970</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0,118</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0,901</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4" name="Shape 17"/>
          <p:cNvSpPr/>
          <p:nvPr/>
        </p:nvSpPr>
        <p:spPr>
          <a:xfrm>
            <a:off x="612775" y="4949825"/>
            <a:ext cx="5391150" cy="880745"/>
          </a:xfrm>
          <a:prstGeom prst="roundRect">
            <a:avLst>
              <a:gd name="adj" fmla="val 11175"/>
            </a:avLst>
          </a:prstGeom>
          <a:solidFill>
            <a:srgbClr val="FCFCFB"/>
          </a:solidFill>
          <a:ln w="6350">
            <a:solidFill>
              <a:srgbClr val="E1E0D9"/>
            </a:solidFill>
            <a:prstDash val="solid"/>
          </a:ln>
        </p:spPr>
        <p:txBody>
          <a:bodyPr/>
          <a:lstStyle/>
          <a:p>
            <a:endParaRPr lang="fr-FR"/>
          </a:p>
        </p:txBody>
      </p:sp>
      <p:sp>
        <p:nvSpPr>
          <p:cNvPr id="25" name="Text 18"/>
          <p:cNvSpPr/>
          <p:nvPr/>
        </p:nvSpPr>
        <p:spPr>
          <a:xfrm>
            <a:off x="767080" y="5104132"/>
            <a:ext cx="776288" cy="264160"/>
          </a:xfrm>
          <a:custGeom>
            <a:avLst/>
            <a:gdLst/>
            <a:ahLst/>
            <a:cxnLst/>
            <a:rect l="l" t="t" r="r" b="b"/>
            <a:pathLst>
              <a:path w="776288" h="264160">
                <a:moveTo>
                  <a:pt x="132080" y="0"/>
                </a:moveTo>
                <a:lnTo>
                  <a:pt x="644207" y="0"/>
                </a:lnTo>
                <a:arcTo wR="132080" hR="132080" stAng="16200000" swAng="5400000"/>
                <a:lnTo>
                  <a:pt x="776288" y="132080"/>
                </a:lnTo>
                <a:arcTo wR="132080" hR="132080" stAng="0" swAng="5400000"/>
                <a:lnTo>
                  <a:pt x="132080" y="264160"/>
                </a:lnTo>
                <a:arcTo wR="132080" hR="132080" stAng="5400000" swAng="5400000"/>
                <a:lnTo>
                  <a:pt x="0" y="132080"/>
                </a:lnTo>
                <a:arcTo wR="132080" hR="132080" stAng="10800000" swAng="5400000"/>
                <a:close/>
              </a:path>
            </a:pathLst>
          </a:custGeom>
          <a:solidFill>
            <a:srgbClr val="E4EEFB"/>
          </a:solidFill>
          <a:ln/>
        </p:spPr>
        <p:txBody>
          <a:bodyPr wrap="none" lIns="0" tIns="0" rIns="0" bIns="0" rtlCol="0" anchor="ctr">
            <a:normAutofit/>
          </a:bodyPr>
          <a:lstStyle/>
          <a:p>
            <a:pPr marL="0" indent="0" algn="ctr">
              <a:lnSpc>
                <a:spcPts val="1680"/>
              </a:lnSpc>
              <a:buNone/>
            </a:pPr>
            <a:r>
              <a:rPr lang="en-US" sz="1200" b="1" dirty="0">
                <a:solidFill>
                  <a:srgbClr val="1F5FB0"/>
                </a:solidFill>
                <a:latin typeface="IBM Plex Sans" pitchFamily="34" charset="0"/>
                <a:ea typeface="IBM Plex Sans" pitchFamily="34" charset="-122"/>
                <a:cs typeface="IBM Plex Sans" pitchFamily="34" charset="-120"/>
              </a:rPr>
              <a:t>Apporte</a:t>
            </a:r>
            <a:endParaRPr lang="en-US" sz="1200" dirty="0"/>
          </a:p>
        </p:txBody>
      </p:sp>
      <p:sp>
        <p:nvSpPr>
          <p:cNvPr id="26" name="Text 19"/>
          <p:cNvSpPr/>
          <p:nvPr/>
        </p:nvSpPr>
        <p:spPr>
          <a:xfrm>
            <a:off x="767080" y="5419089"/>
            <a:ext cx="5235016"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7202E"/>
                </a:solidFill>
                <a:latin typeface="IBM Plex Sans" pitchFamily="34" charset="0"/>
                <a:ea typeface="IBM Plex Sans" pitchFamily="34" charset="-122"/>
                <a:cs typeface="IBM Plex Sans" pitchFamily="34" charset="-120"/>
              </a:rPr>
              <a:t>Le rythme est nécessaire à S, la forme à V.</a:t>
            </a:r>
            <a:endParaRPr lang="en-US" sz="1500" dirty="0"/>
          </a:p>
        </p:txBody>
      </p:sp>
      <p:sp>
        <p:nvSpPr>
          <p:cNvPr id="27" name="Shape 20"/>
          <p:cNvSpPr/>
          <p:nvPr/>
        </p:nvSpPr>
        <p:spPr>
          <a:xfrm>
            <a:off x="6188075" y="4949825"/>
            <a:ext cx="5391150" cy="880745"/>
          </a:xfrm>
          <a:prstGeom prst="roundRect">
            <a:avLst>
              <a:gd name="adj" fmla="val 11175"/>
            </a:avLst>
          </a:prstGeom>
          <a:solidFill>
            <a:srgbClr val="FCFCFB"/>
          </a:solidFill>
          <a:ln w="6350">
            <a:solidFill>
              <a:srgbClr val="E1E0D9"/>
            </a:solidFill>
            <a:prstDash val="solid"/>
          </a:ln>
        </p:spPr>
        <p:txBody>
          <a:bodyPr/>
          <a:lstStyle/>
          <a:p>
            <a:endParaRPr lang="fr-FR"/>
          </a:p>
        </p:txBody>
      </p:sp>
      <p:sp>
        <p:nvSpPr>
          <p:cNvPr id="28" name="Text 21"/>
          <p:cNvSpPr/>
          <p:nvPr/>
        </p:nvSpPr>
        <p:spPr>
          <a:xfrm>
            <a:off x="6342380" y="5104132"/>
            <a:ext cx="643255" cy="264160"/>
          </a:xfrm>
          <a:custGeom>
            <a:avLst/>
            <a:gdLst/>
            <a:ahLst/>
            <a:cxnLst/>
            <a:rect l="l" t="t" r="r" b="b"/>
            <a:pathLst>
              <a:path w="643255" h="264160">
                <a:moveTo>
                  <a:pt x="132080" y="0"/>
                </a:moveTo>
                <a:lnTo>
                  <a:pt x="511175" y="0"/>
                </a:lnTo>
                <a:arcTo wR="132080" hR="132080" stAng="16200000" swAng="5400000"/>
                <a:lnTo>
                  <a:pt x="643255" y="132080"/>
                </a:lnTo>
                <a:arcTo wR="132080" hR="132080" stAng="0" swAng="5400000"/>
                <a:lnTo>
                  <a:pt x="132080" y="264160"/>
                </a:lnTo>
                <a:arcTo wR="132080" hR="132080" stAng="5400000" swAng="5400000"/>
                <a:lnTo>
                  <a:pt x="0" y="132080"/>
                </a:lnTo>
                <a:arcTo wR="132080" hR="132080" stAng="10800000" swAng="5400000"/>
                <a:close/>
              </a:path>
            </a:pathLst>
          </a:custGeom>
          <a:solidFill>
            <a:srgbClr val="FBE3D9"/>
          </a:solidFill>
          <a:ln/>
        </p:spPr>
        <p:txBody>
          <a:bodyPr wrap="none" lIns="0" tIns="0" rIns="0" bIns="0" rtlCol="0" anchor="ctr">
            <a:normAutofit/>
          </a:bodyPr>
          <a:lstStyle/>
          <a:p>
            <a:pPr marL="0" indent="0" algn="ctr">
              <a:lnSpc>
                <a:spcPts val="1680"/>
              </a:lnSpc>
              <a:buNone/>
            </a:pPr>
            <a:r>
              <a:rPr lang="en-US" sz="1200" b="1" dirty="0">
                <a:solidFill>
                  <a:srgbClr val="B8431A"/>
                </a:solidFill>
                <a:latin typeface="IBM Plex Sans" pitchFamily="34" charset="0"/>
                <a:ea typeface="IBM Plex Sans" pitchFamily="34" charset="-122"/>
                <a:cs typeface="IBM Plex Sans" pitchFamily="34" charset="-120"/>
              </a:rPr>
              <a:t>Limite</a:t>
            </a:r>
            <a:endParaRPr lang="en-US" sz="1200" dirty="0"/>
          </a:p>
        </p:txBody>
      </p:sp>
      <p:sp>
        <p:nvSpPr>
          <p:cNvPr id="29" name="Text 22"/>
          <p:cNvSpPr/>
          <p:nvPr/>
        </p:nvSpPr>
        <p:spPr>
          <a:xfrm>
            <a:off x="6342380" y="5419089"/>
            <a:ext cx="5235016"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7202E"/>
                </a:solidFill>
                <a:latin typeface="IBM Plex Sans" pitchFamily="34" charset="0"/>
                <a:ea typeface="IBM Plex Sans" pitchFamily="34" charset="-122"/>
                <a:cs typeface="IBM Plex Sans" pitchFamily="34" charset="-120"/>
              </a:rPr>
              <a:t>S (rappel 0,07) et F (0,01) presque invisibles.</a:t>
            </a:r>
            <a:endParaRPr lang="en-US" sz="1500" dirty="0"/>
          </a:p>
        </p:txBody>
      </p:sp>
      <p:sp>
        <p:nvSpPr>
          <p:cNvPr id="30" name="Text 23"/>
          <p:cNvSpPr/>
          <p:nvPr/>
        </p:nvSpPr>
        <p:spPr>
          <a:xfrm>
            <a:off x="609600" y="6365239"/>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Classification de séries temporelles ECG · MIT-BIH · résultats intermédiaires</a:t>
            </a:r>
            <a:endParaRPr lang="en-US" sz="1200" dirty="0"/>
          </a:p>
        </p:txBody>
      </p:sp>
      <p:sp>
        <p:nvSpPr>
          <p:cNvPr id="31" name="Text 24"/>
          <p:cNvSpPr/>
          <p:nvPr/>
        </p:nvSpPr>
        <p:spPr>
          <a:xfrm>
            <a:off x="10261600" y="6365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IBM Plex Sans" pitchFamily="34" charset="0"/>
                <a:ea typeface="IBM Plex Sans" pitchFamily="34" charset="-122"/>
                <a:cs typeface="IBM Plex Sans" pitchFamily="34" charset="-120"/>
              </a:rPr>
              <a:t>5 / 10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6F2"/>
        </a:solidFill>
        <a:effectLst/>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F5FB0"/>
                </a:solidFill>
                <a:latin typeface="IBM Plex Sans" pitchFamily="34" charset="0"/>
                <a:ea typeface="IBM Plex Sans" pitchFamily="34" charset="-122"/>
                <a:cs typeface="IBM Plex Sans" pitchFamily="34" charset="-120"/>
              </a:rPr>
              <a:t>06 · CNN 1D</a:t>
            </a:r>
            <a:endParaRPr lang="en-US" sz="1200" dirty="0"/>
          </a:p>
        </p:txBody>
      </p:sp>
      <p:sp>
        <p:nvSpPr>
          <p:cNvPr id="3" name="Text 1"/>
          <p:cNvSpPr>
            <a:spLocks noGrp="1"/>
          </p:cNvSpPr>
          <p:nvPr>
            <p:ph type="title"/>
          </p:nvPr>
        </p:nvSpPr>
        <p:spPr>
          <a:xfrm>
            <a:off x="609600" y="734061"/>
            <a:ext cx="11301984" cy="41656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F1B2D"/>
                </a:solidFill>
                <a:latin typeface="DM Sans" pitchFamily="34" charset="0"/>
                <a:ea typeface="DM Sans" pitchFamily="34" charset="-122"/>
                <a:cs typeface="DM Sans" pitchFamily="34" charset="-120"/>
              </a:rPr>
              <a:t>CNN 1D : la forme seule ne suffit pas</a:t>
            </a:r>
            <a:endParaRPr lang="en-US" sz="2800" dirty="0"/>
          </a:p>
        </p:txBody>
      </p:sp>
      <p:sp>
        <p:nvSpPr>
          <p:cNvPr id="4" name="Shape 2"/>
          <p:cNvSpPr/>
          <p:nvPr/>
        </p:nvSpPr>
        <p:spPr>
          <a:xfrm>
            <a:off x="612775" y="1306196"/>
            <a:ext cx="1905714" cy="951230"/>
          </a:xfrm>
          <a:prstGeom prst="roundRect">
            <a:avLst>
              <a:gd name="adj" fmla="val 10347"/>
            </a:avLst>
          </a:prstGeom>
          <a:solidFill>
            <a:srgbClr val="E4EEFB"/>
          </a:solidFill>
          <a:ln w="6350">
            <a:solidFill>
              <a:srgbClr val="BFD6F4"/>
            </a:solidFill>
            <a:prstDash val="solid"/>
          </a:ln>
        </p:spPr>
        <p:txBody>
          <a:bodyPr/>
          <a:lstStyle/>
          <a:p>
            <a:endParaRPr lang="fr-FR"/>
          </a:p>
        </p:txBody>
      </p:sp>
      <p:sp>
        <p:nvSpPr>
          <p:cNvPr id="5" name="Text 3"/>
          <p:cNvSpPr/>
          <p:nvPr/>
        </p:nvSpPr>
        <p:spPr>
          <a:xfrm>
            <a:off x="716280" y="1422400"/>
            <a:ext cx="174966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D"/>
                </a:solidFill>
                <a:latin typeface="DM Sans" pitchFamily="34" charset="0"/>
                <a:ea typeface="DM Sans" pitchFamily="34" charset="-122"/>
                <a:cs typeface="DM Sans" pitchFamily="34" charset="-120"/>
              </a:rPr>
              <a:t>Fenêtre</a:t>
            </a:r>
            <a:endParaRPr lang="en-US" sz="1500" dirty="0"/>
          </a:p>
        </p:txBody>
      </p:sp>
      <p:sp>
        <p:nvSpPr>
          <p:cNvPr id="6" name="Text 4"/>
          <p:cNvSpPr/>
          <p:nvPr/>
        </p:nvSpPr>
        <p:spPr>
          <a:xfrm>
            <a:off x="716280" y="1714500"/>
            <a:ext cx="174966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216 échantillons</a:t>
            </a:r>
            <a:endParaRPr lang="en-US" sz="1200" dirty="0"/>
          </a:p>
        </p:txBody>
      </p:sp>
      <p:pic>
        <p:nvPicPr>
          <p:cNvPr id="7" name="Image 0" descr="arrow-right"/>
          <p:cNvPicPr>
            <a:picLocks noChangeAspect="1"/>
          </p:cNvPicPr>
          <p:nvPr/>
        </p:nvPicPr>
        <p:blipFill>
          <a:blip r:embed="rId3"/>
          <a:srcRect/>
          <a:stretch/>
        </p:blipFill>
        <p:spPr>
          <a:xfrm>
            <a:off x="2572464" y="1692911"/>
            <a:ext cx="254000" cy="177800"/>
          </a:xfrm>
          <a:prstGeom prst="rect">
            <a:avLst/>
          </a:prstGeom>
        </p:spPr>
      </p:pic>
      <p:sp>
        <p:nvSpPr>
          <p:cNvPr id="8" name="Shape 5"/>
          <p:cNvSpPr/>
          <p:nvPr/>
        </p:nvSpPr>
        <p:spPr>
          <a:xfrm>
            <a:off x="2880439" y="1306196"/>
            <a:ext cx="1905794" cy="951230"/>
          </a:xfrm>
          <a:prstGeom prst="roundRect">
            <a:avLst>
              <a:gd name="adj" fmla="val 10347"/>
            </a:avLst>
          </a:prstGeom>
          <a:solidFill>
            <a:srgbClr val="E4EEFB"/>
          </a:solidFill>
          <a:ln w="6350">
            <a:solidFill>
              <a:srgbClr val="BFD6F4"/>
            </a:solidFill>
            <a:prstDash val="solid"/>
          </a:ln>
        </p:spPr>
        <p:txBody>
          <a:bodyPr/>
          <a:lstStyle/>
          <a:p>
            <a:endParaRPr lang="fr-FR"/>
          </a:p>
        </p:txBody>
      </p:sp>
      <p:sp>
        <p:nvSpPr>
          <p:cNvPr id="9" name="Text 6"/>
          <p:cNvSpPr/>
          <p:nvPr/>
        </p:nvSpPr>
        <p:spPr>
          <a:xfrm>
            <a:off x="2983944" y="1422400"/>
            <a:ext cx="174974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D"/>
                </a:solidFill>
                <a:latin typeface="DM Sans" pitchFamily="34" charset="0"/>
                <a:ea typeface="DM Sans" pitchFamily="34" charset="-122"/>
                <a:cs typeface="DM Sans" pitchFamily="34" charset="-120"/>
              </a:rPr>
              <a:t>Bloc 1</a:t>
            </a:r>
            <a:endParaRPr lang="en-US" sz="1500" dirty="0"/>
          </a:p>
        </p:txBody>
      </p:sp>
      <p:sp>
        <p:nvSpPr>
          <p:cNvPr id="10" name="Text 7"/>
          <p:cNvSpPr/>
          <p:nvPr/>
        </p:nvSpPr>
        <p:spPr>
          <a:xfrm>
            <a:off x="2983944" y="1714500"/>
            <a:ext cx="1749747"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Conv 7 × 32, BN, ReLU, pool</a:t>
            </a:r>
            <a:endParaRPr lang="en-US" sz="1200" dirty="0"/>
          </a:p>
        </p:txBody>
      </p:sp>
      <p:pic>
        <p:nvPicPr>
          <p:cNvPr id="11" name="Image 1" descr="arrow-right"/>
          <p:cNvPicPr>
            <a:picLocks noChangeAspect="1"/>
          </p:cNvPicPr>
          <p:nvPr/>
        </p:nvPicPr>
        <p:blipFill>
          <a:blip r:embed="rId3"/>
          <a:srcRect/>
          <a:stretch/>
        </p:blipFill>
        <p:spPr>
          <a:xfrm>
            <a:off x="4840208" y="1692911"/>
            <a:ext cx="254000" cy="177800"/>
          </a:xfrm>
          <a:prstGeom prst="rect">
            <a:avLst/>
          </a:prstGeom>
        </p:spPr>
      </p:pic>
      <p:sp>
        <p:nvSpPr>
          <p:cNvPr id="12" name="Shape 8"/>
          <p:cNvSpPr/>
          <p:nvPr/>
        </p:nvSpPr>
        <p:spPr>
          <a:xfrm>
            <a:off x="5148183" y="1306196"/>
            <a:ext cx="1905714" cy="951230"/>
          </a:xfrm>
          <a:prstGeom prst="roundRect">
            <a:avLst>
              <a:gd name="adj" fmla="val 10347"/>
            </a:avLst>
          </a:prstGeom>
          <a:solidFill>
            <a:srgbClr val="E4EEFB"/>
          </a:solidFill>
          <a:ln w="6350">
            <a:solidFill>
              <a:srgbClr val="BFD6F4"/>
            </a:solidFill>
            <a:prstDash val="solid"/>
          </a:ln>
        </p:spPr>
        <p:txBody>
          <a:bodyPr/>
          <a:lstStyle/>
          <a:p>
            <a:endParaRPr lang="fr-FR"/>
          </a:p>
        </p:txBody>
      </p:sp>
      <p:sp>
        <p:nvSpPr>
          <p:cNvPr id="13" name="Text 9"/>
          <p:cNvSpPr/>
          <p:nvPr/>
        </p:nvSpPr>
        <p:spPr>
          <a:xfrm>
            <a:off x="5251688" y="1422400"/>
            <a:ext cx="174966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D"/>
                </a:solidFill>
                <a:latin typeface="DM Sans" pitchFamily="34" charset="0"/>
                <a:ea typeface="DM Sans" pitchFamily="34" charset="-122"/>
                <a:cs typeface="DM Sans" pitchFamily="34" charset="-120"/>
              </a:rPr>
              <a:t>Bloc 2</a:t>
            </a:r>
            <a:endParaRPr lang="en-US" sz="1500" dirty="0"/>
          </a:p>
        </p:txBody>
      </p:sp>
      <p:sp>
        <p:nvSpPr>
          <p:cNvPr id="14" name="Text 10"/>
          <p:cNvSpPr/>
          <p:nvPr/>
        </p:nvSpPr>
        <p:spPr>
          <a:xfrm>
            <a:off x="5251688" y="1714500"/>
            <a:ext cx="174966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Conv 5 × 64, BN, ReLU, pool</a:t>
            </a:r>
            <a:endParaRPr lang="en-US" sz="1200" dirty="0"/>
          </a:p>
        </p:txBody>
      </p:sp>
      <p:pic>
        <p:nvPicPr>
          <p:cNvPr id="15" name="Image 2" descr="arrow-right"/>
          <p:cNvPicPr>
            <a:picLocks noChangeAspect="1"/>
          </p:cNvPicPr>
          <p:nvPr/>
        </p:nvPicPr>
        <p:blipFill>
          <a:blip r:embed="rId3"/>
          <a:srcRect/>
          <a:stretch/>
        </p:blipFill>
        <p:spPr>
          <a:xfrm>
            <a:off x="7107872" y="1692911"/>
            <a:ext cx="254000" cy="177800"/>
          </a:xfrm>
          <a:prstGeom prst="rect">
            <a:avLst/>
          </a:prstGeom>
        </p:spPr>
      </p:pic>
      <p:sp>
        <p:nvSpPr>
          <p:cNvPr id="16" name="Shape 11"/>
          <p:cNvSpPr/>
          <p:nvPr/>
        </p:nvSpPr>
        <p:spPr>
          <a:xfrm>
            <a:off x="7415847" y="1306196"/>
            <a:ext cx="1905794" cy="951230"/>
          </a:xfrm>
          <a:prstGeom prst="roundRect">
            <a:avLst>
              <a:gd name="adj" fmla="val 10347"/>
            </a:avLst>
          </a:prstGeom>
          <a:solidFill>
            <a:srgbClr val="E4EEFB"/>
          </a:solidFill>
          <a:ln w="6350">
            <a:solidFill>
              <a:srgbClr val="BFD6F4"/>
            </a:solidFill>
            <a:prstDash val="solid"/>
          </a:ln>
        </p:spPr>
        <p:txBody>
          <a:bodyPr/>
          <a:lstStyle/>
          <a:p>
            <a:endParaRPr lang="fr-FR"/>
          </a:p>
        </p:txBody>
      </p:sp>
      <p:sp>
        <p:nvSpPr>
          <p:cNvPr id="17" name="Text 12"/>
          <p:cNvSpPr/>
          <p:nvPr/>
        </p:nvSpPr>
        <p:spPr>
          <a:xfrm>
            <a:off x="7519353" y="1422400"/>
            <a:ext cx="174974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D"/>
                </a:solidFill>
                <a:latin typeface="DM Sans" pitchFamily="34" charset="0"/>
                <a:ea typeface="DM Sans" pitchFamily="34" charset="-122"/>
                <a:cs typeface="DM Sans" pitchFamily="34" charset="-120"/>
              </a:rPr>
              <a:t>Bloc 3</a:t>
            </a:r>
            <a:endParaRPr lang="en-US" sz="1500" dirty="0"/>
          </a:p>
        </p:txBody>
      </p:sp>
      <p:sp>
        <p:nvSpPr>
          <p:cNvPr id="18" name="Text 13"/>
          <p:cNvSpPr/>
          <p:nvPr/>
        </p:nvSpPr>
        <p:spPr>
          <a:xfrm>
            <a:off x="7519353" y="1714500"/>
            <a:ext cx="174974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Conv 3 × 128, BN, ReLU</a:t>
            </a:r>
            <a:endParaRPr lang="en-US" sz="1200" dirty="0"/>
          </a:p>
        </p:txBody>
      </p:sp>
      <p:pic>
        <p:nvPicPr>
          <p:cNvPr id="19" name="Image 3" descr="arrow-right"/>
          <p:cNvPicPr>
            <a:picLocks noChangeAspect="1"/>
          </p:cNvPicPr>
          <p:nvPr/>
        </p:nvPicPr>
        <p:blipFill>
          <a:blip r:embed="rId3"/>
          <a:srcRect/>
          <a:stretch/>
        </p:blipFill>
        <p:spPr>
          <a:xfrm>
            <a:off x="9375616" y="1692911"/>
            <a:ext cx="254000" cy="177800"/>
          </a:xfrm>
          <a:prstGeom prst="rect">
            <a:avLst/>
          </a:prstGeom>
        </p:spPr>
      </p:pic>
      <p:sp>
        <p:nvSpPr>
          <p:cNvPr id="20" name="Shape 14"/>
          <p:cNvSpPr/>
          <p:nvPr/>
        </p:nvSpPr>
        <p:spPr>
          <a:xfrm>
            <a:off x="9680416" y="1303021"/>
            <a:ext cx="1901984" cy="957580"/>
          </a:xfrm>
          <a:prstGeom prst="roundRect">
            <a:avLst>
              <a:gd name="adj" fmla="val 10610"/>
            </a:avLst>
          </a:prstGeom>
          <a:solidFill>
            <a:srgbClr val="0F1B2D"/>
          </a:solidFill>
          <a:ln/>
        </p:spPr>
        <p:txBody>
          <a:bodyPr/>
          <a:lstStyle/>
          <a:p>
            <a:endParaRPr lang="fr-FR"/>
          </a:p>
        </p:txBody>
      </p:sp>
      <p:sp>
        <p:nvSpPr>
          <p:cNvPr id="21" name="Text 15"/>
          <p:cNvSpPr/>
          <p:nvPr/>
        </p:nvSpPr>
        <p:spPr>
          <a:xfrm>
            <a:off x="9782016" y="1417321"/>
            <a:ext cx="174974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6F6F2"/>
                </a:solidFill>
                <a:latin typeface="DM Sans" pitchFamily="34" charset="0"/>
                <a:ea typeface="DM Sans" pitchFamily="34" charset="-122"/>
                <a:cs typeface="DM Sans" pitchFamily="34" charset="-120"/>
              </a:rPr>
              <a:t>Classe</a:t>
            </a:r>
            <a:endParaRPr lang="en-US" sz="1500" dirty="0"/>
          </a:p>
        </p:txBody>
      </p:sp>
      <p:sp>
        <p:nvSpPr>
          <p:cNvPr id="22" name="Text 16"/>
          <p:cNvSpPr/>
          <p:nvPr/>
        </p:nvSpPr>
        <p:spPr>
          <a:xfrm>
            <a:off x="9782016" y="1709421"/>
            <a:ext cx="1749747"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4D6"/>
                </a:solidFill>
                <a:latin typeface="IBM Plex Sans" pitchFamily="34" charset="0"/>
                <a:ea typeface="IBM Plex Sans" pitchFamily="34" charset="-122"/>
                <a:cs typeface="IBM Plex Sans" pitchFamily="34" charset="-120"/>
              </a:rPr>
              <a:t>moyenne globale, dense 128 → 5</a:t>
            </a:r>
            <a:endParaRPr lang="en-US" sz="1200" dirty="0"/>
          </a:p>
        </p:txBody>
      </p:sp>
      <p:sp>
        <p:nvSpPr>
          <p:cNvPr id="23" name="Shape 17"/>
          <p:cNvSpPr/>
          <p:nvPr/>
        </p:nvSpPr>
        <p:spPr>
          <a:xfrm>
            <a:off x="612775" y="2441575"/>
            <a:ext cx="6724650" cy="3077210"/>
          </a:xfrm>
          <a:prstGeom prst="roundRect">
            <a:avLst>
              <a:gd name="adj" fmla="val 3199"/>
            </a:avLst>
          </a:prstGeom>
          <a:solidFill>
            <a:srgbClr val="FCFCFB"/>
          </a:solidFill>
          <a:ln w="6350">
            <a:solidFill>
              <a:srgbClr val="E1E0D9"/>
            </a:solidFill>
            <a:prstDash val="solid"/>
          </a:ln>
        </p:spPr>
        <p:txBody>
          <a:bodyPr/>
          <a:lstStyle/>
          <a:p>
            <a:endParaRPr lang="fr-FR"/>
          </a:p>
        </p:txBody>
      </p:sp>
      <p:pic>
        <p:nvPicPr>
          <p:cNvPr id="24" name="Image 4" descr="Matrices de confusion sur le test du Random Forest et du CNN 1D, en pourcentage par ligne"/>
          <p:cNvPicPr>
            <a:picLocks noChangeAspect="1"/>
          </p:cNvPicPr>
          <p:nvPr/>
        </p:nvPicPr>
        <p:blipFill>
          <a:blip r:embed="rId4"/>
          <a:srcRect t="-121" b="-121"/>
          <a:stretch/>
        </p:blipFill>
        <p:spPr>
          <a:xfrm>
            <a:off x="716280" y="2545082"/>
            <a:ext cx="6517640" cy="2870200"/>
          </a:xfrm>
          <a:prstGeom prst="rect">
            <a:avLst/>
          </a:prstGeom>
        </p:spPr>
      </p:pic>
      <p:sp>
        <p:nvSpPr>
          <p:cNvPr id="25" name="Shape 18"/>
          <p:cNvSpPr/>
          <p:nvPr/>
        </p:nvSpPr>
        <p:spPr>
          <a:xfrm>
            <a:off x="7521575" y="2441575"/>
            <a:ext cx="4057650" cy="750570"/>
          </a:xfrm>
          <a:prstGeom prst="roundRect">
            <a:avLst>
              <a:gd name="adj" fmla="val 13113"/>
            </a:avLst>
          </a:prstGeom>
          <a:solidFill>
            <a:srgbClr val="FCFCFB"/>
          </a:solidFill>
          <a:ln w="6350">
            <a:solidFill>
              <a:srgbClr val="E1E0D9"/>
            </a:solidFill>
            <a:prstDash val="solid"/>
          </a:ln>
        </p:spPr>
        <p:txBody>
          <a:bodyPr/>
          <a:lstStyle/>
          <a:p>
            <a:endParaRPr lang="fr-FR"/>
          </a:p>
        </p:txBody>
      </p:sp>
      <p:sp>
        <p:nvSpPr>
          <p:cNvPr id="26" name="Text 19"/>
          <p:cNvSpPr/>
          <p:nvPr/>
        </p:nvSpPr>
        <p:spPr>
          <a:xfrm>
            <a:off x="7675880" y="2519682"/>
            <a:ext cx="3861511"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1F5FB0"/>
                </a:solidFill>
                <a:latin typeface="DM Sans" pitchFamily="34" charset="0"/>
                <a:ea typeface="DM Sans" pitchFamily="34" charset="-122"/>
                <a:cs typeface="DM Sans" pitchFamily="34" charset="-120"/>
              </a:rPr>
              <a:t>0,433 ± 0,032</a:t>
            </a:r>
            <a:endParaRPr lang="en-US" sz="2800" dirty="0"/>
          </a:p>
        </p:txBody>
      </p:sp>
      <p:sp>
        <p:nvSpPr>
          <p:cNvPr id="27" name="Text 20"/>
          <p:cNvSpPr/>
          <p:nvPr/>
        </p:nvSpPr>
        <p:spPr>
          <a:xfrm>
            <a:off x="7675880" y="2900682"/>
            <a:ext cx="386151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F1 macro au test (RF : 0,501)</a:t>
            </a:r>
            <a:endParaRPr lang="en-US" sz="1200" dirty="0"/>
          </a:p>
        </p:txBody>
      </p:sp>
      <p:sp>
        <p:nvSpPr>
          <p:cNvPr id="28" name="Shape 21"/>
          <p:cNvSpPr/>
          <p:nvPr/>
        </p:nvSpPr>
        <p:spPr>
          <a:xfrm>
            <a:off x="7521575" y="3274696"/>
            <a:ext cx="4057650" cy="750570"/>
          </a:xfrm>
          <a:prstGeom prst="roundRect">
            <a:avLst>
              <a:gd name="adj" fmla="val 13113"/>
            </a:avLst>
          </a:prstGeom>
          <a:solidFill>
            <a:srgbClr val="FCFCFB"/>
          </a:solidFill>
          <a:ln w="6350">
            <a:solidFill>
              <a:srgbClr val="E1E0D9"/>
            </a:solidFill>
            <a:prstDash val="solid"/>
          </a:ln>
        </p:spPr>
        <p:txBody>
          <a:bodyPr/>
          <a:lstStyle/>
          <a:p>
            <a:endParaRPr lang="fr-FR"/>
          </a:p>
        </p:txBody>
      </p:sp>
      <p:sp>
        <p:nvSpPr>
          <p:cNvPr id="29" name="Text 22"/>
          <p:cNvSpPr/>
          <p:nvPr/>
        </p:nvSpPr>
        <p:spPr>
          <a:xfrm>
            <a:off x="7675880" y="3352800"/>
            <a:ext cx="3861511"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1F5FB0"/>
                </a:solidFill>
                <a:latin typeface="DM Sans" pitchFamily="34" charset="0"/>
                <a:ea typeface="DM Sans" pitchFamily="34" charset="-122"/>
                <a:cs typeface="DM Sans" pitchFamily="34" charset="-120"/>
              </a:rPr>
              <a:t>12,1 %</a:t>
            </a:r>
            <a:endParaRPr lang="en-US" sz="2800" dirty="0"/>
          </a:p>
        </p:txBody>
      </p:sp>
      <p:sp>
        <p:nvSpPr>
          <p:cNvPr id="30" name="Text 23"/>
          <p:cNvSpPr/>
          <p:nvPr/>
        </p:nvSpPr>
        <p:spPr>
          <a:xfrm>
            <a:off x="7675880" y="3733800"/>
            <a:ext cx="386151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des N prédits anormaux (RF : 0,5 %)</a:t>
            </a:r>
            <a:endParaRPr lang="en-US" sz="1200" dirty="0"/>
          </a:p>
        </p:txBody>
      </p:sp>
      <p:sp>
        <p:nvSpPr>
          <p:cNvPr id="31" name="Shape 24"/>
          <p:cNvSpPr/>
          <p:nvPr/>
        </p:nvSpPr>
        <p:spPr>
          <a:xfrm>
            <a:off x="7521575" y="4107814"/>
            <a:ext cx="4057650" cy="1036320"/>
          </a:xfrm>
          <a:prstGeom prst="roundRect">
            <a:avLst>
              <a:gd name="adj" fmla="val 9498"/>
            </a:avLst>
          </a:prstGeom>
          <a:solidFill>
            <a:srgbClr val="FCFCFB"/>
          </a:solidFill>
          <a:ln w="6350">
            <a:solidFill>
              <a:srgbClr val="E1E0D9"/>
            </a:solidFill>
            <a:prstDash val="solid"/>
          </a:ln>
        </p:spPr>
        <p:txBody>
          <a:bodyPr/>
          <a:lstStyle/>
          <a:p>
            <a:endParaRPr lang="fr-FR"/>
          </a:p>
        </p:txBody>
      </p:sp>
      <p:sp>
        <p:nvSpPr>
          <p:cNvPr id="32" name="Text 25"/>
          <p:cNvSpPr/>
          <p:nvPr/>
        </p:nvSpPr>
        <p:spPr>
          <a:xfrm>
            <a:off x="7675880" y="4211321"/>
            <a:ext cx="643255" cy="264160"/>
          </a:xfrm>
          <a:custGeom>
            <a:avLst/>
            <a:gdLst/>
            <a:ahLst/>
            <a:cxnLst/>
            <a:rect l="l" t="t" r="r" b="b"/>
            <a:pathLst>
              <a:path w="643255" h="264160">
                <a:moveTo>
                  <a:pt x="132080" y="0"/>
                </a:moveTo>
                <a:lnTo>
                  <a:pt x="511175" y="0"/>
                </a:lnTo>
                <a:arcTo wR="132080" hR="132080" stAng="16200000" swAng="5400000"/>
                <a:lnTo>
                  <a:pt x="643255" y="132080"/>
                </a:lnTo>
                <a:arcTo wR="132080" hR="132080" stAng="0" swAng="5400000"/>
                <a:lnTo>
                  <a:pt x="132080" y="264160"/>
                </a:lnTo>
                <a:arcTo wR="132080" hR="132080" stAng="5400000" swAng="5400000"/>
                <a:lnTo>
                  <a:pt x="0" y="132080"/>
                </a:lnTo>
                <a:arcTo wR="132080" hR="132080" stAng="10800000" swAng="5400000"/>
                <a:close/>
              </a:path>
            </a:pathLst>
          </a:custGeom>
          <a:solidFill>
            <a:srgbClr val="FBE3D9"/>
          </a:solidFill>
          <a:ln/>
        </p:spPr>
        <p:txBody>
          <a:bodyPr wrap="none" lIns="0" tIns="0" rIns="0" bIns="0" rtlCol="0" anchor="ctr">
            <a:normAutofit/>
          </a:bodyPr>
          <a:lstStyle/>
          <a:p>
            <a:pPr marL="0" indent="0" algn="ctr">
              <a:lnSpc>
                <a:spcPts val="1680"/>
              </a:lnSpc>
              <a:buNone/>
            </a:pPr>
            <a:r>
              <a:rPr lang="en-US" sz="1200" b="1" dirty="0">
                <a:solidFill>
                  <a:srgbClr val="B8431A"/>
                </a:solidFill>
                <a:latin typeface="IBM Plex Sans" pitchFamily="34" charset="0"/>
                <a:ea typeface="IBM Plex Sans" pitchFamily="34" charset="-122"/>
                <a:cs typeface="IBM Plex Sans" pitchFamily="34" charset="-120"/>
              </a:rPr>
              <a:t>Limite</a:t>
            </a:r>
            <a:endParaRPr lang="en-US" sz="1200" dirty="0"/>
          </a:p>
        </p:txBody>
      </p:sp>
      <p:sp>
        <p:nvSpPr>
          <p:cNvPr id="33" name="Text 26"/>
          <p:cNvSpPr/>
          <p:nvPr/>
        </p:nvSpPr>
        <p:spPr>
          <a:xfrm>
            <a:off x="7675880" y="4526282"/>
            <a:ext cx="3861511"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7202E"/>
                </a:solidFill>
                <a:latin typeface="IBM Plex Sans" pitchFamily="34" charset="0"/>
                <a:ea typeface="IBM Plex Sans" pitchFamily="34" charset="-122"/>
                <a:cs typeface="IBM Plex Sans" pitchFamily="34" charset="-120"/>
              </a:rPr>
              <a:t>Aveugle au rythme : S détecté à 5,1 % contre 7,3 % de N prédits S.</a:t>
            </a:r>
            <a:endParaRPr lang="en-US" sz="1500" dirty="0"/>
          </a:p>
        </p:txBody>
      </p:sp>
      <p:sp>
        <p:nvSpPr>
          <p:cNvPr id="34" name="Text 27"/>
          <p:cNvSpPr/>
          <p:nvPr/>
        </p:nvSpPr>
        <p:spPr>
          <a:xfrm>
            <a:off x="609600" y="6365239"/>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Classification de séries temporelles ECG · MIT-BIH · résultats intermédiaires</a:t>
            </a:r>
            <a:endParaRPr lang="en-US" sz="1200" dirty="0"/>
          </a:p>
        </p:txBody>
      </p:sp>
      <p:sp>
        <p:nvSpPr>
          <p:cNvPr id="35" name="Text 28"/>
          <p:cNvSpPr/>
          <p:nvPr/>
        </p:nvSpPr>
        <p:spPr>
          <a:xfrm>
            <a:off x="10261600" y="6365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IBM Plex Sans" pitchFamily="34" charset="0"/>
                <a:ea typeface="IBM Plex Sans" pitchFamily="34" charset="-122"/>
                <a:cs typeface="IBM Plex Sans" pitchFamily="34" charset="-120"/>
              </a:rPr>
              <a:t>6 / 10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6F2"/>
        </a:solidFill>
        <a:effectLst/>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F5FB0"/>
                </a:solidFill>
                <a:latin typeface="IBM Plex Sans" pitchFamily="34" charset="0"/>
                <a:ea typeface="IBM Plex Sans" pitchFamily="34" charset="-122"/>
                <a:cs typeface="IBM Plex Sans" pitchFamily="34" charset="-120"/>
              </a:rPr>
              <a:t>07 · CNN + RYTHME</a:t>
            </a:r>
            <a:endParaRPr lang="en-US" sz="1200" dirty="0"/>
          </a:p>
        </p:txBody>
      </p:sp>
      <p:sp>
        <p:nvSpPr>
          <p:cNvPr id="3" name="Text 1"/>
          <p:cNvSpPr>
            <a:spLocks noGrp="1"/>
          </p:cNvSpPr>
          <p:nvPr>
            <p:ph type="title"/>
          </p:nvPr>
        </p:nvSpPr>
        <p:spPr>
          <a:xfrm>
            <a:off x="609600" y="734061"/>
            <a:ext cx="11301984" cy="41656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F1B2D"/>
                </a:solidFill>
                <a:latin typeface="DM Sans" pitchFamily="34" charset="0"/>
                <a:ea typeface="DM Sans" pitchFamily="34" charset="-122"/>
                <a:cs typeface="DM Sans" pitchFamily="34" charset="-120"/>
              </a:rPr>
              <a:t>CNN + branche rythme : S devient détectable</a:t>
            </a:r>
            <a:endParaRPr lang="en-US" sz="2800" dirty="0"/>
          </a:p>
        </p:txBody>
      </p:sp>
      <p:sp>
        <p:nvSpPr>
          <p:cNvPr id="4" name="Shape 2"/>
          <p:cNvSpPr/>
          <p:nvPr/>
        </p:nvSpPr>
        <p:spPr>
          <a:xfrm>
            <a:off x="612775" y="1306196"/>
            <a:ext cx="3041650" cy="588010"/>
          </a:xfrm>
          <a:prstGeom prst="roundRect">
            <a:avLst>
              <a:gd name="adj" fmla="val 16739"/>
            </a:avLst>
          </a:prstGeom>
          <a:solidFill>
            <a:srgbClr val="E4EEFB"/>
          </a:solidFill>
          <a:ln w="6350">
            <a:solidFill>
              <a:srgbClr val="BFD6F4"/>
            </a:solidFill>
            <a:prstDash val="solid"/>
          </a:ln>
        </p:spPr>
        <p:txBody>
          <a:bodyPr/>
          <a:lstStyle/>
          <a:p>
            <a:endParaRPr lang="fr-FR"/>
          </a:p>
        </p:txBody>
      </p:sp>
      <p:sp>
        <p:nvSpPr>
          <p:cNvPr id="5" name="Text 3"/>
          <p:cNvSpPr/>
          <p:nvPr/>
        </p:nvSpPr>
        <p:spPr>
          <a:xfrm>
            <a:off x="716280" y="1384300"/>
            <a:ext cx="291967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1B2D"/>
                </a:solidFill>
                <a:latin typeface="DM Sans" pitchFamily="34" charset="0"/>
                <a:ea typeface="DM Sans" pitchFamily="34" charset="-122"/>
                <a:cs typeface="DM Sans" pitchFamily="34" charset="-120"/>
              </a:rPr>
              <a:t>Fenêtre</a:t>
            </a:r>
            <a:endParaRPr lang="en-US" sz="1500" dirty="0"/>
          </a:p>
        </p:txBody>
      </p:sp>
      <p:sp>
        <p:nvSpPr>
          <p:cNvPr id="6" name="Text 4"/>
          <p:cNvSpPr/>
          <p:nvPr/>
        </p:nvSpPr>
        <p:spPr>
          <a:xfrm>
            <a:off x="716280" y="1625600"/>
            <a:ext cx="2919679"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A5568"/>
                </a:solidFill>
                <a:latin typeface="IBM Plex Sans" pitchFamily="34" charset="0"/>
                <a:ea typeface="IBM Plex Sans" pitchFamily="34" charset="-122"/>
                <a:cs typeface="IBM Plex Sans" pitchFamily="34" charset="-120"/>
              </a:rPr>
              <a:t>216 échantillons</a:t>
            </a:r>
            <a:endParaRPr lang="en-US" sz="1200" dirty="0"/>
          </a:p>
        </p:txBody>
      </p:sp>
      <p:pic>
        <p:nvPicPr>
          <p:cNvPr id="7" name="Image 0" descr="arrow-right"/>
          <p:cNvPicPr>
            <a:picLocks noChangeAspect="1"/>
          </p:cNvPicPr>
          <p:nvPr/>
        </p:nvPicPr>
        <p:blipFill>
          <a:blip r:embed="rId3"/>
          <a:srcRect/>
          <a:stretch/>
        </p:blipFill>
        <p:spPr>
          <a:xfrm>
            <a:off x="3708400" y="1511300"/>
            <a:ext cx="254000" cy="177800"/>
          </a:xfrm>
          <a:prstGeom prst="rect">
            <a:avLst/>
          </a:prstGeom>
        </p:spPr>
      </p:pic>
      <p:sp>
        <p:nvSpPr>
          <p:cNvPr id="8" name="Shape 5"/>
          <p:cNvSpPr/>
          <p:nvPr/>
        </p:nvSpPr>
        <p:spPr>
          <a:xfrm>
            <a:off x="4016375" y="1306196"/>
            <a:ext cx="3041650" cy="588010"/>
          </a:xfrm>
          <a:prstGeom prst="roundRect">
            <a:avLst>
              <a:gd name="adj" fmla="val 16739"/>
            </a:avLst>
          </a:prstGeom>
          <a:solidFill>
            <a:srgbClr val="E4EEFB"/>
          </a:solidFill>
          <a:ln w="6350">
            <a:solidFill>
              <a:srgbClr val="BFD6F4"/>
            </a:solidFill>
            <a:prstDash val="solid"/>
          </a:ln>
        </p:spPr>
        <p:txBody>
          <a:bodyPr/>
          <a:lstStyle/>
          <a:p>
            <a:endParaRPr lang="fr-FR"/>
          </a:p>
        </p:txBody>
      </p:sp>
      <p:sp>
        <p:nvSpPr>
          <p:cNvPr id="9" name="Text 6"/>
          <p:cNvSpPr/>
          <p:nvPr/>
        </p:nvSpPr>
        <p:spPr>
          <a:xfrm>
            <a:off x="4119880" y="1384300"/>
            <a:ext cx="291967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1B2D"/>
                </a:solidFill>
                <a:latin typeface="DM Sans" pitchFamily="34" charset="0"/>
                <a:ea typeface="DM Sans" pitchFamily="34" charset="-122"/>
                <a:cs typeface="DM Sans" pitchFamily="34" charset="-120"/>
              </a:rPr>
              <a:t>CNN : 3 blocs</a:t>
            </a:r>
            <a:endParaRPr lang="en-US" sz="1500" dirty="0"/>
          </a:p>
        </p:txBody>
      </p:sp>
      <p:sp>
        <p:nvSpPr>
          <p:cNvPr id="10" name="Text 7"/>
          <p:cNvSpPr/>
          <p:nvPr/>
        </p:nvSpPr>
        <p:spPr>
          <a:xfrm>
            <a:off x="4119880" y="1625600"/>
            <a:ext cx="2919679"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A5568"/>
                </a:solidFill>
                <a:latin typeface="IBM Plex Sans" pitchFamily="34" charset="0"/>
                <a:ea typeface="IBM Plex Sans" pitchFamily="34" charset="-122"/>
                <a:cs typeface="IBM Plex Sans" pitchFamily="34" charset="-120"/>
              </a:rPr>
              <a:t>128 valeurs</a:t>
            </a:r>
            <a:endParaRPr lang="en-US" sz="1200" dirty="0"/>
          </a:p>
        </p:txBody>
      </p:sp>
      <p:sp>
        <p:nvSpPr>
          <p:cNvPr id="11" name="Shape 8"/>
          <p:cNvSpPr/>
          <p:nvPr/>
        </p:nvSpPr>
        <p:spPr>
          <a:xfrm>
            <a:off x="612775" y="1951357"/>
            <a:ext cx="3041650" cy="588010"/>
          </a:xfrm>
          <a:prstGeom prst="roundRect">
            <a:avLst>
              <a:gd name="adj" fmla="val 16739"/>
            </a:avLst>
          </a:prstGeom>
          <a:solidFill>
            <a:srgbClr val="E4EEFB"/>
          </a:solidFill>
          <a:ln w="6350">
            <a:solidFill>
              <a:srgbClr val="BFD6F4"/>
            </a:solidFill>
            <a:prstDash val="solid"/>
          </a:ln>
        </p:spPr>
        <p:txBody>
          <a:bodyPr/>
          <a:lstStyle/>
          <a:p>
            <a:endParaRPr lang="fr-FR"/>
          </a:p>
        </p:txBody>
      </p:sp>
      <p:sp>
        <p:nvSpPr>
          <p:cNvPr id="12" name="Text 9"/>
          <p:cNvSpPr/>
          <p:nvPr/>
        </p:nvSpPr>
        <p:spPr>
          <a:xfrm>
            <a:off x="716280" y="2029461"/>
            <a:ext cx="291967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1B2D"/>
                </a:solidFill>
                <a:latin typeface="DM Sans" pitchFamily="34" charset="0"/>
                <a:ea typeface="DM Sans" pitchFamily="34" charset="-122"/>
                <a:cs typeface="DM Sans" pitchFamily="34" charset="-120"/>
              </a:rPr>
              <a:t>3 RR relatifs</a:t>
            </a:r>
            <a:endParaRPr lang="en-US" sz="1500" dirty="0"/>
          </a:p>
        </p:txBody>
      </p:sp>
      <p:sp>
        <p:nvSpPr>
          <p:cNvPr id="13" name="Text 10"/>
          <p:cNvSpPr/>
          <p:nvPr/>
        </p:nvSpPr>
        <p:spPr>
          <a:xfrm>
            <a:off x="716280" y="2270761"/>
            <a:ext cx="2919679"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A5568"/>
                </a:solidFill>
                <a:latin typeface="IBM Plex Sans" pitchFamily="34" charset="0"/>
                <a:ea typeface="IBM Plex Sans" pitchFamily="34" charset="-122"/>
                <a:cs typeface="IBM Plex Sans" pitchFamily="34" charset="-120"/>
              </a:rPr>
              <a:t>log des rapports</a:t>
            </a:r>
            <a:endParaRPr lang="en-US" sz="1200" dirty="0"/>
          </a:p>
        </p:txBody>
      </p:sp>
      <p:pic>
        <p:nvPicPr>
          <p:cNvPr id="14" name="Image 1" descr="arrow-right"/>
          <p:cNvPicPr>
            <a:picLocks noChangeAspect="1"/>
          </p:cNvPicPr>
          <p:nvPr/>
        </p:nvPicPr>
        <p:blipFill>
          <a:blip r:embed="rId3"/>
          <a:srcRect/>
          <a:stretch/>
        </p:blipFill>
        <p:spPr>
          <a:xfrm>
            <a:off x="3708400" y="2156461"/>
            <a:ext cx="254000" cy="177800"/>
          </a:xfrm>
          <a:prstGeom prst="rect">
            <a:avLst/>
          </a:prstGeom>
        </p:spPr>
      </p:pic>
      <p:sp>
        <p:nvSpPr>
          <p:cNvPr id="15" name="Shape 11"/>
          <p:cNvSpPr/>
          <p:nvPr/>
        </p:nvSpPr>
        <p:spPr>
          <a:xfrm>
            <a:off x="4016375" y="1951357"/>
            <a:ext cx="3041650" cy="588010"/>
          </a:xfrm>
          <a:prstGeom prst="roundRect">
            <a:avLst>
              <a:gd name="adj" fmla="val 16739"/>
            </a:avLst>
          </a:prstGeom>
          <a:solidFill>
            <a:srgbClr val="E4EEFB"/>
          </a:solidFill>
          <a:ln w="6350">
            <a:solidFill>
              <a:srgbClr val="BFD6F4"/>
            </a:solidFill>
            <a:prstDash val="solid"/>
          </a:ln>
        </p:spPr>
        <p:txBody>
          <a:bodyPr/>
          <a:lstStyle/>
          <a:p>
            <a:endParaRPr lang="fr-FR"/>
          </a:p>
        </p:txBody>
      </p:sp>
      <p:sp>
        <p:nvSpPr>
          <p:cNvPr id="16" name="Text 12"/>
          <p:cNvSpPr/>
          <p:nvPr/>
        </p:nvSpPr>
        <p:spPr>
          <a:xfrm>
            <a:off x="4119880" y="2029461"/>
            <a:ext cx="291967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1B2D"/>
                </a:solidFill>
                <a:latin typeface="DM Sans" pitchFamily="34" charset="0"/>
                <a:ea typeface="DM Sans" pitchFamily="34" charset="-122"/>
                <a:cs typeface="DM Sans" pitchFamily="34" charset="-120"/>
              </a:rPr>
              <a:t>Dense 3 → 16</a:t>
            </a:r>
            <a:endParaRPr lang="en-US" sz="1500" dirty="0"/>
          </a:p>
        </p:txBody>
      </p:sp>
      <p:sp>
        <p:nvSpPr>
          <p:cNvPr id="17" name="Text 13"/>
          <p:cNvSpPr/>
          <p:nvPr/>
        </p:nvSpPr>
        <p:spPr>
          <a:xfrm>
            <a:off x="4119880" y="2270761"/>
            <a:ext cx="2919679"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A5568"/>
                </a:solidFill>
                <a:latin typeface="IBM Plex Sans" pitchFamily="34" charset="0"/>
                <a:ea typeface="IBM Plex Sans" pitchFamily="34" charset="-122"/>
                <a:cs typeface="IBM Plex Sans" pitchFamily="34" charset="-120"/>
              </a:rPr>
              <a:t>ReLU, 16 valeurs</a:t>
            </a:r>
            <a:endParaRPr lang="en-US" sz="1200" dirty="0"/>
          </a:p>
        </p:txBody>
      </p:sp>
      <p:pic>
        <p:nvPicPr>
          <p:cNvPr id="18" name="Image 2" descr="arrow-right"/>
          <p:cNvPicPr>
            <a:picLocks noChangeAspect="1"/>
          </p:cNvPicPr>
          <p:nvPr/>
        </p:nvPicPr>
        <p:blipFill>
          <a:blip r:embed="rId3"/>
          <a:srcRect/>
          <a:stretch/>
        </p:blipFill>
        <p:spPr>
          <a:xfrm>
            <a:off x="7112000" y="1833882"/>
            <a:ext cx="254000" cy="177800"/>
          </a:xfrm>
          <a:prstGeom prst="rect">
            <a:avLst/>
          </a:prstGeom>
        </p:spPr>
      </p:pic>
      <p:sp>
        <p:nvSpPr>
          <p:cNvPr id="19" name="Shape 14"/>
          <p:cNvSpPr/>
          <p:nvPr/>
        </p:nvSpPr>
        <p:spPr>
          <a:xfrm>
            <a:off x="7419975" y="1306196"/>
            <a:ext cx="1898650" cy="1233170"/>
          </a:xfrm>
          <a:prstGeom prst="roundRect">
            <a:avLst>
              <a:gd name="adj" fmla="val 7981"/>
            </a:avLst>
          </a:prstGeom>
          <a:solidFill>
            <a:srgbClr val="E4EEFB"/>
          </a:solidFill>
          <a:ln w="6350">
            <a:solidFill>
              <a:srgbClr val="BFD6F4"/>
            </a:solidFill>
            <a:prstDash val="solid"/>
          </a:ln>
        </p:spPr>
        <p:txBody>
          <a:bodyPr/>
          <a:lstStyle/>
          <a:p>
            <a:endParaRPr lang="fr-FR"/>
          </a:p>
        </p:txBody>
      </p:sp>
      <p:sp>
        <p:nvSpPr>
          <p:cNvPr id="20" name="Text 15"/>
          <p:cNvSpPr/>
          <p:nvPr/>
        </p:nvSpPr>
        <p:spPr>
          <a:xfrm>
            <a:off x="7523480" y="1706882"/>
            <a:ext cx="174244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F1B2D"/>
                </a:solidFill>
                <a:latin typeface="DM Sans" pitchFamily="34" charset="0"/>
                <a:ea typeface="DM Sans" pitchFamily="34" charset="-122"/>
                <a:cs typeface="DM Sans" pitchFamily="34" charset="-120"/>
              </a:rPr>
              <a:t>Concaténation</a:t>
            </a:r>
            <a:endParaRPr lang="en-US" sz="1500" dirty="0"/>
          </a:p>
        </p:txBody>
      </p:sp>
      <p:sp>
        <p:nvSpPr>
          <p:cNvPr id="21" name="Text 16"/>
          <p:cNvSpPr/>
          <p:nvPr/>
        </p:nvSpPr>
        <p:spPr>
          <a:xfrm>
            <a:off x="7523480" y="1948182"/>
            <a:ext cx="1742440"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4A5568"/>
                </a:solidFill>
                <a:latin typeface="IBM Plex Sans" pitchFamily="34" charset="0"/>
                <a:ea typeface="IBM Plex Sans" pitchFamily="34" charset="-122"/>
                <a:cs typeface="IBM Plex Sans" pitchFamily="34" charset="-120"/>
              </a:rPr>
              <a:t>128 + 16 = 144</a:t>
            </a:r>
            <a:endParaRPr lang="en-US" sz="1200" dirty="0"/>
          </a:p>
        </p:txBody>
      </p:sp>
      <p:pic>
        <p:nvPicPr>
          <p:cNvPr id="22" name="Image 3" descr="arrow-right"/>
          <p:cNvPicPr>
            <a:picLocks noChangeAspect="1"/>
          </p:cNvPicPr>
          <p:nvPr/>
        </p:nvPicPr>
        <p:blipFill>
          <a:blip r:embed="rId3"/>
          <a:srcRect/>
          <a:stretch/>
        </p:blipFill>
        <p:spPr>
          <a:xfrm>
            <a:off x="9372600" y="1833882"/>
            <a:ext cx="254000" cy="177800"/>
          </a:xfrm>
          <a:prstGeom prst="rect">
            <a:avLst/>
          </a:prstGeom>
        </p:spPr>
      </p:pic>
      <p:sp>
        <p:nvSpPr>
          <p:cNvPr id="23" name="Shape 17"/>
          <p:cNvSpPr/>
          <p:nvPr/>
        </p:nvSpPr>
        <p:spPr>
          <a:xfrm>
            <a:off x="9677400" y="1303021"/>
            <a:ext cx="1905000" cy="1239520"/>
          </a:xfrm>
          <a:prstGeom prst="roundRect">
            <a:avLst>
              <a:gd name="adj" fmla="val 8197"/>
            </a:avLst>
          </a:prstGeom>
          <a:solidFill>
            <a:srgbClr val="0F1B2D"/>
          </a:solidFill>
          <a:ln/>
        </p:spPr>
        <p:txBody>
          <a:bodyPr/>
          <a:lstStyle/>
          <a:p>
            <a:endParaRPr lang="fr-FR"/>
          </a:p>
        </p:txBody>
      </p:sp>
      <p:sp>
        <p:nvSpPr>
          <p:cNvPr id="24" name="Text 18"/>
          <p:cNvSpPr/>
          <p:nvPr/>
        </p:nvSpPr>
        <p:spPr>
          <a:xfrm>
            <a:off x="9779000" y="1706882"/>
            <a:ext cx="175285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6F6F2"/>
                </a:solidFill>
                <a:latin typeface="DM Sans" pitchFamily="34" charset="0"/>
                <a:ea typeface="DM Sans" pitchFamily="34" charset="-122"/>
                <a:cs typeface="DM Sans" pitchFamily="34" charset="-120"/>
              </a:rPr>
              <a:t>Dense 144 → 5</a:t>
            </a:r>
            <a:endParaRPr lang="en-US" sz="1500" dirty="0"/>
          </a:p>
        </p:txBody>
      </p:sp>
      <p:sp>
        <p:nvSpPr>
          <p:cNvPr id="25" name="Text 19"/>
          <p:cNvSpPr/>
          <p:nvPr/>
        </p:nvSpPr>
        <p:spPr>
          <a:xfrm>
            <a:off x="9779000" y="1948182"/>
            <a:ext cx="1752854" cy="2159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B9C4D6"/>
                </a:solidFill>
                <a:latin typeface="IBM Plex Sans" pitchFamily="34" charset="0"/>
                <a:ea typeface="IBM Plex Sans" pitchFamily="34" charset="-122"/>
                <a:cs typeface="IBM Plex Sans" pitchFamily="34" charset="-120"/>
              </a:rPr>
              <a:t>classe</a:t>
            </a:r>
            <a:endParaRPr lang="en-US" sz="1200" dirty="0"/>
          </a:p>
        </p:txBody>
      </p:sp>
      <p:sp>
        <p:nvSpPr>
          <p:cNvPr id="26" name="Shape 20"/>
          <p:cNvSpPr/>
          <p:nvPr/>
        </p:nvSpPr>
        <p:spPr>
          <a:xfrm>
            <a:off x="612775" y="2723514"/>
            <a:ext cx="6724650" cy="3077210"/>
          </a:xfrm>
          <a:prstGeom prst="roundRect">
            <a:avLst>
              <a:gd name="adj" fmla="val 3199"/>
            </a:avLst>
          </a:prstGeom>
          <a:solidFill>
            <a:srgbClr val="FCFCFB"/>
          </a:solidFill>
          <a:ln w="6350">
            <a:solidFill>
              <a:srgbClr val="E1E0D9"/>
            </a:solidFill>
            <a:prstDash val="solid"/>
          </a:ln>
        </p:spPr>
        <p:txBody>
          <a:bodyPr/>
          <a:lstStyle/>
          <a:p>
            <a:endParaRPr lang="fr-FR"/>
          </a:p>
        </p:txBody>
      </p:sp>
      <p:pic>
        <p:nvPicPr>
          <p:cNvPr id="27" name="Image 4" descr="Matrices de confusion sur le test du CNN initial et du CNN avec branche rythme, en pourcentage par ligne"/>
          <p:cNvPicPr>
            <a:picLocks noChangeAspect="1"/>
          </p:cNvPicPr>
          <p:nvPr/>
        </p:nvPicPr>
        <p:blipFill>
          <a:blip r:embed="rId4"/>
          <a:srcRect t="-121" b="-121"/>
          <a:stretch/>
        </p:blipFill>
        <p:spPr>
          <a:xfrm>
            <a:off x="716280" y="2827021"/>
            <a:ext cx="6517640" cy="2870200"/>
          </a:xfrm>
          <a:prstGeom prst="rect">
            <a:avLst/>
          </a:prstGeom>
        </p:spPr>
      </p:pic>
      <p:sp>
        <p:nvSpPr>
          <p:cNvPr id="28" name="Shape 21"/>
          <p:cNvSpPr/>
          <p:nvPr/>
        </p:nvSpPr>
        <p:spPr>
          <a:xfrm>
            <a:off x="7521575" y="2723514"/>
            <a:ext cx="4057650" cy="750570"/>
          </a:xfrm>
          <a:prstGeom prst="roundRect">
            <a:avLst>
              <a:gd name="adj" fmla="val 13113"/>
            </a:avLst>
          </a:prstGeom>
          <a:solidFill>
            <a:srgbClr val="FCFCFB"/>
          </a:solidFill>
          <a:ln w="6350">
            <a:solidFill>
              <a:srgbClr val="E1E0D9"/>
            </a:solidFill>
            <a:prstDash val="solid"/>
          </a:ln>
        </p:spPr>
        <p:txBody>
          <a:bodyPr/>
          <a:lstStyle/>
          <a:p>
            <a:endParaRPr lang="fr-FR"/>
          </a:p>
        </p:txBody>
      </p:sp>
      <p:sp>
        <p:nvSpPr>
          <p:cNvPr id="29" name="Text 22"/>
          <p:cNvSpPr/>
          <p:nvPr/>
        </p:nvSpPr>
        <p:spPr>
          <a:xfrm>
            <a:off x="7675880" y="2801621"/>
            <a:ext cx="3861511"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1F5FB0"/>
                </a:solidFill>
                <a:latin typeface="DM Sans" pitchFamily="34" charset="0"/>
                <a:ea typeface="DM Sans" pitchFamily="34" charset="-122"/>
                <a:cs typeface="DM Sans" pitchFamily="34" charset="-120"/>
              </a:rPr>
              <a:t>+0,089</a:t>
            </a:r>
            <a:endParaRPr lang="en-US" sz="2800" dirty="0"/>
          </a:p>
        </p:txBody>
      </p:sp>
      <p:sp>
        <p:nvSpPr>
          <p:cNvPr id="30" name="Text 23"/>
          <p:cNvSpPr/>
          <p:nvPr/>
        </p:nvSpPr>
        <p:spPr>
          <a:xfrm>
            <a:off x="7675880" y="3182621"/>
            <a:ext cx="386151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F1 macro vs CNN : 5 seeds sur 5 (0,522 ± 0,029)</a:t>
            </a:r>
            <a:endParaRPr lang="en-US" sz="1200" dirty="0"/>
          </a:p>
        </p:txBody>
      </p:sp>
      <p:sp>
        <p:nvSpPr>
          <p:cNvPr id="31" name="Shape 24"/>
          <p:cNvSpPr/>
          <p:nvPr/>
        </p:nvSpPr>
        <p:spPr>
          <a:xfrm>
            <a:off x="7521575" y="3556636"/>
            <a:ext cx="4057650" cy="750570"/>
          </a:xfrm>
          <a:prstGeom prst="roundRect">
            <a:avLst>
              <a:gd name="adj" fmla="val 13113"/>
            </a:avLst>
          </a:prstGeom>
          <a:solidFill>
            <a:srgbClr val="FCFCFB"/>
          </a:solidFill>
          <a:ln w="6350">
            <a:solidFill>
              <a:srgbClr val="E1E0D9"/>
            </a:solidFill>
            <a:prstDash val="solid"/>
          </a:ln>
        </p:spPr>
        <p:txBody>
          <a:bodyPr/>
          <a:lstStyle/>
          <a:p>
            <a:endParaRPr lang="fr-FR"/>
          </a:p>
        </p:txBody>
      </p:sp>
      <p:sp>
        <p:nvSpPr>
          <p:cNvPr id="32" name="Text 25"/>
          <p:cNvSpPr/>
          <p:nvPr/>
        </p:nvSpPr>
        <p:spPr>
          <a:xfrm>
            <a:off x="7675880" y="3634739"/>
            <a:ext cx="3861511"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1F5FB0"/>
                </a:solidFill>
                <a:latin typeface="DM Sans" pitchFamily="34" charset="0"/>
                <a:ea typeface="DM Sans" pitchFamily="34" charset="-122"/>
                <a:cs typeface="DM Sans" pitchFamily="34" charset="-120"/>
              </a:rPr>
              <a:t>0,05 → 0,55</a:t>
            </a:r>
            <a:endParaRPr lang="en-US" sz="2800" dirty="0"/>
          </a:p>
        </p:txBody>
      </p:sp>
      <p:sp>
        <p:nvSpPr>
          <p:cNvPr id="33" name="Text 26"/>
          <p:cNvSpPr/>
          <p:nvPr/>
        </p:nvSpPr>
        <p:spPr>
          <a:xfrm>
            <a:off x="7675880" y="4015739"/>
            <a:ext cx="386151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sensibilité de S, du CNN au CNN + rythme</a:t>
            </a:r>
            <a:endParaRPr lang="en-US" sz="1200" dirty="0"/>
          </a:p>
        </p:txBody>
      </p:sp>
      <p:sp>
        <p:nvSpPr>
          <p:cNvPr id="34" name="Shape 27"/>
          <p:cNvSpPr/>
          <p:nvPr/>
        </p:nvSpPr>
        <p:spPr>
          <a:xfrm>
            <a:off x="7521575" y="4389757"/>
            <a:ext cx="4057650" cy="1036320"/>
          </a:xfrm>
          <a:prstGeom prst="roundRect">
            <a:avLst>
              <a:gd name="adj" fmla="val 9498"/>
            </a:avLst>
          </a:prstGeom>
          <a:solidFill>
            <a:srgbClr val="FCFCFB"/>
          </a:solidFill>
          <a:ln w="6350">
            <a:solidFill>
              <a:srgbClr val="E1E0D9"/>
            </a:solidFill>
            <a:prstDash val="solid"/>
          </a:ln>
        </p:spPr>
        <p:txBody>
          <a:bodyPr/>
          <a:lstStyle/>
          <a:p>
            <a:endParaRPr lang="fr-FR"/>
          </a:p>
        </p:txBody>
      </p:sp>
      <p:sp>
        <p:nvSpPr>
          <p:cNvPr id="35" name="Text 28"/>
          <p:cNvSpPr/>
          <p:nvPr/>
        </p:nvSpPr>
        <p:spPr>
          <a:xfrm>
            <a:off x="7675880" y="4493261"/>
            <a:ext cx="719296" cy="264160"/>
          </a:xfrm>
          <a:custGeom>
            <a:avLst/>
            <a:gdLst/>
            <a:ahLst/>
            <a:cxnLst/>
            <a:rect l="l" t="t" r="r" b="b"/>
            <a:pathLst>
              <a:path w="719296" h="264160">
                <a:moveTo>
                  <a:pt x="132080" y="0"/>
                </a:moveTo>
                <a:lnTo>
                  <a:pt x="587216" y="0"/>
                </a:lnTo>
                <a:arcTo wR="132080" hR="132080" stAng="16200000" swAng="5400000"/>
                <a:lnTo>
                  <a:pt x="719296" y="132080"/>
                </a:lnTo>
                <a:arcTo wR="132080" hR="132080" stAng="0" swAng="5400000"/>
                <a:lnTo>
                  <a:pt x="132080" y="264160"/>
                </a:lnTo>
                <a:arcTo wR="132080" hR="132080" stAng="5400000" swAng="5400000"/>
                <a:lnTo>
                  <a:pt x="0" y="132080"/>
                </a:lnTo>
                <a:arcTo wR="132080" hR="132080" stAng="10800000" swAng="5400000"/>
                <a:close/>
              </a:path>
            </a:pathLst>
          </a:custGeom>
          <a:solidFill>
            <a:srgbClr val="FBE3D9"/>
          </a:solidFill>
          <a:ln/>
        </p:spPr>
        <p:txBody>
          <a:bodyPr wrap="none" lIns="0" tIns="0" rIns="0" bIns="0" rtlCol="0" anchor="ctr">
            <a:normAutofit/>
          </a:bodyPr>
          <a:lstStyle/>
          <a:p>
            <a:pPr marL="0" indent="0" algn="ctr">
              <a:lnSpc>
                <a:spcPts val="1680"/>
              </a:lnSpc>
              <a:buNone/>
            </a:pPr>
            <a:r>
              <a:rPr lang="en-US" sz="1200" b="1" dirty="0">
                <a:solidFill>
                  <a:srgbClr val="B8431A"/>
                </a:solidFill>
                <a:latin typeface="IBM Plex Sans" pitchFamily="34" charset="0"/>
                <a:ea typeface="IBM Plex Sans" pitchFamily="34" charset="-122"/>
                <a:cs typeface="IBM Plex Sans" pitchFamily="34" charset="-120"/>
              </a:rPr>
              <a:t>Limites</a:t>
            </a:r>
            <a:endParaRPr lang="en-US" sz="1200" dirty="0"/>
          </a:p>
        </p:txBody>
      </p:sp>
      <p:sp>
        <p:nvSpPr>
          <p:cNvPr id="36" name="Text 29"/>
          <p:cNvSpPr/>
          <p:nvPr/>
        </p:nvSpPr>
        <p:spPr>
          <a:xfrm>
            <a:off x="7675880" y="4808221"/>
            <a:ext cx="3861511"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7202E"/>
                </a:solidFill>
                <a:latin typeface="IBM Plex Sans" pitchFamily="34" charset="0"/>
                <a:ea typeface="IBM Plex Sans" pitchFamily="34" charset="-122"/>
                <a:cs typeface="IBM Plex Sans" pitchFamily="34" charset="-120"/>
              </a:rPr>
              <a:t>VPP de S : 0,21. V du record 213 : 0,97 → 0,67. F toujours ignoré.</a:t>
            </a:r>
            <a:endParaRPr lang="en-US" sz="1500" dirty="0"/>
          </a:p>
        </p:txBody>
      </p:sp>
      <p:sp>
        <p:nvSpPr>
          <p:cNvPr id="37" name="Text 30"/>
          <p:cNvSpPr/>
          <p:nvPr/>
        </p:nvSpPr>
        <p:spPr>
          <a:xfrm>
            <a:off x="609600" y="6365239"/>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Classification de séries temporelles ECG · MIT-BIH · résultats intermédiaires</a:t>
            </a:r>
            <a:endParaRPr lang="en-US" sz="1200" dirty="0"/>
          </a:p>
        </p:txBody>
      </p:sp>
      <p:sp>
        <p:nvSpPr>
          <p:cNvPr id="38" name="Text 31"/>
          <p:cNvSpPr/>
          <p:nvPr/>
        </p:nvSpPr>
        <p:spPr>
          <a:xfrm>
            <a:off x="10261600" y="6365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IBM Plex Sans" pitchFamily="34" charset="0"/>
                <a:ea typeface="IBM Plex Sans" pitchFamily="34" charset="-122"/>
                <a:cs typeface="IBM Plex Sans" pitchFamily="34" charset="-120"/>
              </a:rPr>
              <a:t>7 / 10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6F2"/>
        </a:solidFill>
        <a:effectLst/>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F5FB0"/>
                </a:solidFill>
                <a:latin typeface="IBM Plex Sans" pitchFamily="34" charset="0"/>
                <a:ea typeface="IBM Plex Sans" pitchFamily="34" charset="-122"/>
                <a:cs typeface="IBM Plex Sans" pitchFamily="34" charset="-120"/>
              </a:rPr>
              <a:t>08 · CNN-LSTM</a:t>
            </a:r>
            <a:endParaRPr lang="en-US" sz="1200" dirty="0"/>
          </a:p>
        </p:txBody>
      </p:sp>
      <p:sp>
        <p:nvSpPr>
          <p:cNvPr id="3" name="Text 1"/>
          <p:cNvSpPr>
            <a:spLocks noGrp="1"/>
          </p:cNvSpPr>
          <p:nvPr>
            <p:ph type="title"/>
          </p:nvPr>
        </p:nvSpPr>
        <p:spPr>
          <a:xfrm>
            <a:off x="609600" y="734061"/>
            <a:ext cx="11301984" cy="41656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F1B2D"/>
                </a:solidFill>
                <a:latin typeface="DM Sans" pitchFamily="34" charset="0"/>
                <a:ea typeface="DM Sans" pitchFamily="34" charset="-122"/>
                <a:cs typeface="DM Sans" pitchFamily="34" charset="-120"/>
              </a:rPr>
              <a:t>CNN-LSTM avec attention : le contexte de 9 battements</a:t>
            </a:r>
            <a:endParaRPr lang="en-US" sz="2800" dirty="0"/>
          </a:p>
        </p:txBody>
      </p:sp>
      <p:sp>
        <p:nvSpPr>
          <p:cNvPr id="4" name="Shape 2"/>
          <p:cNvSpPr/>
          <p:nvPr/>
        </p:nvSpPr>
        <p:spPr>
          <a:xfrm>
            <a:off x="612775" y="1306196"/>
            <a:ext cx="1527810" cy="951230"/>
          </a:xfrm>
          <a:prstGeom prst="roundRect">
            <a:avLst>
              <a:gd name="adj" fmla="val 10347"/>
            </a:avLst>
          </a:prstGeom>
          <a:solidFill>
            <a:srgbClr val="E4EEFB"/>
          </a:solidFill>
          <a:ln w="6350">
            <a:solidFill>
              <a:srgbClr val="BFD6F4"/>
            </a:solidFill>
            <a:prstDash val="solid"/>
          </a:ln>
        </p:spPr>
        <p:txBody>
          <a:bodyPr/>
          <a:lstStyle/>
          <a:p>
            <a:endParaRPr lang="fr-FR"/>
          </a:p>
        </p:txBody>
      </p:sp>
      <p:sp>
        <p:nvSpPr>
          <p:cNvPr id="5" name="Text 3"/>
          <p:cNvSpPr/>
          <p:nvPr/>
        </p:nvSpPr>
        <p:spPr>
          <a:xfrm>
            <a:off x="716280" y="1422400"/>
            <a:ext cx="13716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D"/>
                </a:solidFill>
                <a:latin typeface="DM Sans" pitchFamily="34" charset="0"/>
                <a:ea typeface="DM Sans" pitchFamily="34" charset="-122"/>
                <a:cs typeface="DM Sans" pitchFamily="34" charset="-120"/>
              </a:rPr>
              <a:t>9 battements</a:t>
            </a:r>
            <a:endParaRPr lang="en-US" sz="1500" dirty="0"/>
          </a:p>
        </p:txBody>
      </p:sp>
      <p:sp>
        <p:nvSpPr>
          <p:cNvPr id="6" name="Text 4"/>
          <p:cNvSpPr/>
          <p:nvPr/>
        </p:nvSpPr>
        <p:spPr>
          <a:xfrm>
            <a:off x="716280" y="1714500"/>
            <a:ext cx="137160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4 voisins de chaque côté</a:t>
            </a:r>
            <a:endParaRPr lang="en-US" sz="1200" dirty="0"/>
          </a:p>
        </p:txBody>
      </p:sp>
      <p:pic>
        <p:nvPicPr>
          <p:cNvPr id="7" name="Image 0" descr="arrow-right"/>
          <p:cNvPicPr>
            <a:picLocks noChangeAspect="1"/>
          </p:cNvPicPr>
          <p:nvPr/>
        </p:nvPicPr>
        <p:blipFill>
          <a:blip r:embed="rId3"/>
          <a:srcRect/>
          <a:stretch/>
        </p:blipFill>
        <p:spPr>
          <a:xfrm>
            <a:off x="2194560" y="1692911"/>
            <a:ext cx="254000" cy="177800"/>
          </a:xfrm>
          <a:prstGeom prst="rect">
            <a:avLst/>
          </a:prstGeom>
        </p:spPr>
      </p:pic>
      <p:sp>
        <p:nvSpPr>
          <p:cNvPr id="8" name="Shape 5"/>
          <p:cNvSpPr/>
          <p:nvPr/>
        </p:nvSpPr>
        <p:spPr>
          <a:xfrm>
            <a:off x="2502535" y="1306196"/>
            <a:ext cx="1527810" cy="951230"/>
          </a:xfrm>
          <a:prstGeom prst="roundRect">
            <a:avLst>
              <a:gd name="adj" fmla="val 10347"/>
            </a:avLst>
          </a:prstGeom>
          <a:solidFill>
            <a:srgbClr val="E4EEFB"/>
          </a:solidFill>
          <a:ln w="6350">
            <a:solidFill>
              <a:srgbClr val="BFD6F4"/>
            </a:solidFill>
            <a:prstDash val="solid"/>
          </a:ln>
        </p:spPr>
        <p:txBody>
          <a:bodyPr/>
          <a:lstStyle/>
          <a:p>
            <a:endParaRPr lang="fr-FR"/>
          </a:p>
        </p:txBody>
      </p:sp>
      <p:sp>
        <p:nvSpPr>
          <p:cNvPr id="9" name="Text 6"/>
          <p:cNvSpPr/>
          <p:nvPr/>
        </p:nvSpPr>
        <p:spPr>
          <a:xfrm>
            <a:off x="2606040" y="1422400"/>
            <a:ext cx="13716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D"/>
                </a:solidFill>
                <a:latin typeface="DM Sans" pitchFamily="34" charset="0"/>
                <a:ea typeface="DM Sans" pitchFamily="34" charset="-122"/>
                <a:cs typeface="DM Sans" pitchFamily="34" charset="-120"/>
              </a:rPr>
              <a:t>CNN partagé</a:t>
            </a:r>
            <a:endParaRPr lang="en-US" sz="1500" dirty="0"/>
          </a:p>
        </p:txBody>
      </p:sp>
      <p:sp>
        <p:nvSpPr>
          <p:cNvPr id="10" name="Text 7"/>
          <p:cNvSpPr/>
          <p:nvPr/>
        </p:nvSpPr>
        <p:spPr>
          <a:xfrm>
            <a:off x="2606040" y="1714500"/>
            <a:ext cx="137160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forme de chaque battement</a:t>
            </a:r>
            <a:endParaRPr lang="en-US" sz="1200" dirty="0"/>
          </a:p>
        </p:txBody>
      </p:sp>
      <p:pic>
        <p:nvPicPr>
          <p:cNvPr id="11" name="Image 1" descr="arrow-right"/>
          <p:cNvPicPr>
            <a:picLocks noChangeAspect="1"/>
          </p:cNvPicPr>
          <p:nvPr/>
        </p:nvPicPr>
        <p:blipFill>
          <a:blip r:embed="rId3"/>
          <a:srcRect/>
          <a:stretch/>
        </p:blipFill>
        <p:spPr>
          <a:xfrm>
            <a:off x="4084320" y="1692911"/>
            <a:ext cx="254000" cy="177800"/>
          </a:xfrm>
          <a:prstGeom prst="rect">
            <a:avLst/>
          </a:prstGeom>
        </p:spPr>
      </p:pic>
      <p:sp>
        <p:nvSpPr>
          <p:cNvPr id="12" name="Shape 8"/>
          <p:cNvSpPr/>
          <p:nvPr/>
        </p:nvSpPr>
        <p:spPr>
          <a:xfrm>
            <a:off x="4392295" y="1306196"/>
            <a:ext cx="1527810" cy="951230"/>
          </a:xfrm>
          <a:prstGeom prst="roundRect">
            <a:avLst>
              <a:gd name="adj" fmla="val 10347"/>
            </a:avLst>
          </a:prstGeom>
          <a:solidFill>
            <a:srgbClr val="E4EEFB"/>
          </a:solidFill>
          <a:ln w="6350">
            <a:solidFill>
              <a:srgbClr val="BFD6F4"/>
            </a:solidFill>
            <a:prstDash val="solid"/>
          </a:ln>
        </p:spPr>
        <p:txBody>
          <a:bodyPr/>
          <a:lstStyle/>
          <a:p>
            <a:endParaRPr lang="fr-FR"/>
          </a:p>
        </p:txBody>
      </p:sp>
      <p:sp>
        <p:nvSpPr>
          <p:cNvPr id="13" name="Text 9"/>
          <p:cNvSpPr/>
          <p:nvPr/>
        </p:nvSpPr>
        <p:spPr>
          <a:xfrm>
            <a:off x="4495800" y="1422400"/>
            <a:ext cx="13716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D"/>
                </a:solidFill>
                <a:latin typeface="DM Sans" pitchFamily="34" charset="0"/>
                <a:ea typeface="DM Sans" pitchFamily="34" charset="-122"/>
                <a:cs typeface="DM Sans" pitchFamily="34" charset="-120"/>
              </a:rPr>
              <a:t>+ rythme RR</a:t>
            </a:r>
            <a:endParaRPr lang="en-US" sz="1500" dirty="0"/>
          </a:p>
        </p:txBody>
      </p:sp>
      <p:sp>
        <p:nvSpPr>
          <p:cNvPr id="14" name="Text 10"/>
          <p:cNvSpPr/>
          <p:nvPr/>
        </p:nvSpPr>
        <p:spPr>
          <a:xfrm>
            <a:off x="4495800" y="1714500"/>
            <a:ext cx="137160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relatif, par battement</a:t>
            </a:r>
            <a:endParaRPr lang="en-US" sz="1200" dirty="0"/>
          </a:p>
        </p:txBody>
      </p:sp>
      <p:pic>
        <p:nvPicPr>
          <p:cNvPr id="15" name="Image 2" descr="arrow-right"/>
          <p:cNvPicPr>
            <a:picLocks noChangeAspect="1"/>
          </p:cNvPicPr>
          <p:nvPr/>
        </p:nvPicPr>
        <p:blipFill>
          <a:blip r:embed="rId3"/>
          <a:srcRect/>
          <a:stretch/>
        </p:blipFill>
        <p:spPr>
          <a:xfrm>
            <a:off x="5974080" y="1692911"/>
            <a:ext cx="254000" cy="177800"/>
          </a:xfrm>
          <a:prstGeom prst="rect">
            <a:avLst/>
          </a:prstGeom>
        </p:spPr>
      </p:pic>
      <p:sp>
        <p:nvSpPr>
          <p:cNvPr id="16" name="Shape 11"/>
          <p:cNvSpPr/>
          <p:nvPr/>
        </p:nvSpPr>
        <p:spPr>
          <a:xfrm>
            <a:off x="6282055" y="1306196"/>
            <a:ext cx="1527810" cy="951230"/>
          </a:xfrm>
          <a:prstGeom prst="roundRect">
            <a:avLst>
              <a:gd name="adj" fmla="val 10347"/>
            </a:avLst>
          </a:prstGeom>
          <a:solidFill>
            <a:srgbClr val="E4EEFB"/>
          </a:solidFill>
          <a:ln w="6350">
            <a:solidFill>
              <a:srgbClr val="BFD6F4"/>
            </a:solidFill>
            <a:prstDash val="solid"/>
          </a:ln>
        </p:spPr>
        <p:txBody>
          <a:bodyPr/>
          <a:lstStyle/>
          <a:p>
            <a:endParaRPr lang="fr-FR"/>
          </a:p>
        </p:txBody>
      </p:sp>
      <p:sp>
        <p:nvSpPr>
          <p:cNvPr id="17" name="Text 12"/>
          <p:cNvSpPr/>
          <p:nvPr/>
        </p:nvSpPr>
        <p:spPr>
          <a:xfrm>
            <a:off x="6385560" y="1422400"/>
            <a:ext cx="13716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D"/>
                </a:solidFill>
                <a:latin typeface="DM Sans" pitchFamily="34" charset="0"/>
                <a:ea typeface="DM Sans" pitchFamily="34" charset="-122"/>
                <a:cs typeface="DM Sans" pitchFamily="34" charset="-120"/>
              </a:rPr>
              <a:t>BiLSTM</a:t>
            </a:r>
            <a:endParaRPr lang="en-US" sz="1500" dirty="0"/>
          </a:p>
        </p:txBody>
      </p:sp>
      <p:sp>
        <p:nvSpPr>
          <p:cNvPr id="18" name="Text 13"/>
          <p:cNvSpPr/>
          <p:nvPr/>
        </p:nvSpPr>
        <p:spPr>
          <a:xfrm>
            <a:off x="6385560" y="1714500"/>
            <a:ext cx="137160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contexte avant et après</a:t>
            </a:r>
            <a:endParaRPr lang="en-US" sz="1200" dirty="0"/>
          </a:p>
        </p:txBody>
      </p:sp>
      <p:pic>
        <p:nvPicPr>
          <p:cNvPr id="19" name="Image 3" descr="arrow-right"/>
          <p:cNvPicPr>
            <a:picLocks noChangeAspect="1"/>
          </p:cNvPicPr>
          <p:nvPr/>
        </p:nvPicPr>
        <p:blipFill>
          <a:blip r:embed="rId3"/>
          <a:srcRect/>
          <a:stretch/>
        </p:blipFill>
        <p:spPr>
          <a:xfrm>
            <a:off x="7863840" y="1692911"/>
            <a:ext cx="254000" cy="177800"/>
          </a:xfrm>
          <a:prstGeom prst="rect">
            <a:avLst/>
          </a:prstGeom>
        </p:spPr>
      </p:pic>
      <p:sp>
        <p:nvSpPr>
          <p:cNvPr id="20" name="Shape 14"/>
          <p:cNvSpPr/>
          <p:nvPr/>
        </p:nvSpPr>
        <p:spPr>
          <a:xfrm>
            <a:off x="8171815" y="1306196"/>
            <a:ext cx="1527810" cy="951230"/>
          </a:xfrm>
          <a:prstGeom prst="roundRect">
            <a:avLst>
              <a:gd name="adj" fmla="val 10347"/>
            </a:avLst>
          </a:prstGeom>
          <a:solidFill>
            <a:srgbClr val="E4EEFB"/>
          </a:solidFill>
          <a:ln w="6350">
            <a:solidFill>
              <a:srgbClr val="BFD6F4"/>
            </a:solidFill>
            <a:prstDash val="solid"/>
          </a:ln>
        </p:spPr>
        <p:txBody>
          <a:bodyPr/>
          <a:lstStyle/>
          <a:p>
            <a:endParaRPr lang="fr-FR"/>
          </a:p>
        </p:txBody>
      </p:sp>
      <p:sp>
        <p:nvSpPr>
          <p:cNvPr id="21" name="Text 15"/>
          <p:cNvSpPr/>
          <p:nvPr/>
        </p:nvSpPr>
        <p:spPr>
          <a:xfrm>
            <a:off x="8275320" y="1422400"/>
            <a:ext cx="13716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D"/>
                </a:solidFill>
                <a:latin typeface="DM Sans" pitchFamily="34" charset="0"/>
                <a:ea typeface="DM Sans" pitchFamily="34" charset="-122"/>
                <a:cs typeface="DM Sans" pitchFamily="34" charset="-120"/>
              </a:rPr>
              <a:t>Attention</a:t>
            </a:r>
            <a:endParaRPr lang="en-US" sz="1500" dirty="0"/>
          </a:p>
        </p:txBody>
      </p:sp>
      <p:sp>
        <p:nvSpPr>
          <p:cNvPr id="22" name="Text 16"/>
          <p:cNvSpPr/>
          <p:nvPr/>
        </p:nvSpPr>
        <p:spPr>
          <a:xfrm>
            <a:off x="8275320" y="1714500"/>
            <a:ext cx="137160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pondère les 9 battements</a:t>
            </a:r>
            <a:endParaRPr lang="en-US" sz="1200" dirty="0"/>
          </a:p>
        </p:txBody>
      </p:sp>
      <p:pic>
        <p:nvPicPr>
          <p:cNvPr id="23" name="Image 4" descr="arrow-right"/>
          <p:cNvPicPr>
            <a:picLocks noChangeAspect="1"/>
          </p:cNvPicPr>
          <p:nvPr/>
        </p:nvPicPr>
        <p:blipFill>
          <a:blip r:embed="rId3"/>
          <a:srcRect/>
          <a:stretch/>
        </p:blipFill>
        <p:spPr>
          <a:xfrm>
            <a:off x="9753600" y="1692911"/>
            <a:ext cx="254000" cy="177800"/>
          </a:xfrm>
          <a:prstGeom prst="rect">
            <a:avLst/>
          </a:prstGeom>
        </p:spPr>
      </p:pic>
      <p:sp>
        <p:nvSpPr>
          <p:cNvPr id="24" name="Shape 17"/>
          <p:cNvSpPr/>
          <p:nvPr/>
        </p:nvSpPr>
        <p:spPr>
          <a:xfrm>
            <a:off x="10058400" y="1303021"/>
            <a:ext cx="1524000" cy="957580"/>
          </a:xfrm>
          <a:prstGeom prst="roundRect">
            <a:avLst>
              <a:gd name="adj" fmla="val 10610"/>
            </a:avLst>
          </a:prstGeom>
          <a:solidFill>
            <a:srgbClr val="0F1B2D"/>
          </a:solidFill>
          <a:ln/>
        </p:spPr>
        <p:txBody>
          <a:bodyPr/>
          <a:lstStyle/>
          <a:p>
            <a:endParaRPr lang="fr-FR"/>
          </a:p>
        </p:txBody>
      </p:sp>
      <p:sp>
        <p:nvSpPr>
          <p:cNvPr id="25" name="Text 18"/>
          <p:cNvSpPr/>
          <p:nvPr/>
        </p:nvSpPr>
        <p:spPr>
          <a:xfrm>
            <a:off x="10160000" y="1417321"/>
            <a:ext cx="13716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6F6F2"/>
                </a:solidFill>
                <a:latin typeface="DM Sans" pitchFamily="34" charset="0"/>
                <a:ea typeface="DM Sans" pitchFamily="34" charset="-122"/>
                <a:cs typeface="DM Sans" pitchFamily="34" charset="-120"/>
              </a:rPr>
              <a:t>Classe</a:t>
            </a:r>
            <a:endParaRPr lang="en-US" sz="1500" dirty="0"/>
          </a:p>
        </p:txBody>
      </p:sp>
      <p:sp>
        <p:nvSpPr>
          <p:cNvPr id="26" name="Text 19"/>
          <p:cNvSpPr/>
          <p:nvPr/>
        </p:nvSpPr>
        <p:spPr>
          <a:xfrm>
            <a:off x="10160000" y="1709421"/>
            <a:ext cx="1371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4D6"/>
                </a:solidFill>
                <a:latin typeface="IBM Plex Sans" pitchFamily="34" charset="0"/>
                <a:ea typeface="IBM Plex Sans" pitchFamily="34" charset="-122"/>
                <a:cs typeface="IBM Plex Sans" pitchFamily="34" charset="-120"/>
              </a:rPr>
              <a:t>N, S, V, F, Q</a:t>
            </a:r>
            <a:endParaRPr lang="en-US" sz="1200" dirty="0"/>
          </a:p>
        </p:txBody>
      </p:sp>
      <p:sp>
        <p:nvSpPr>
          <p:cNvPr id="27" name="Shape 20"/>
          <p:cNvSpPr/>
          <p:nvPr/>
        </p:nvSpPr>
        <p:spPr>
          <a:xfrm>
            <a:off x="612775" y="2441575"/>
            <a:ext cx="7359650" cy="3356610"/>
          </a:xfrm>
          <a:prstGeom prst="roundRect">
            <a:avLst>
              <a:gd name="adj" fmla="val 2932"/>
            </a:avLst>
          </a:prstGeom>
          <a:solidFill>
            <a:srgbClr val="FCFCFB"/>
          </a:solidFill>
          <a:ln w="6350">
            <a:solidFill>
              <a:srgbClr val="E1E0D9"/>
            </a:solidFill>
            <a:prstDash val="solid"/>
          </a:ln>
        </p:spPr>
        <p:txBody>
          <a:bodyPr/>
          <a:lstStyle/>
          <a:p>
            <a:endParaRPr lang="fr-FR"/>
          </a:p>
        </p:txBody>
      </p:sp>
      <p:pic>
        <p:nvPicPr>
          <p:cNvPr id="28" name="Image 5" descr="Matrices de confusion sur le test du CNN avec branche rythme et du CNN-LSTM avec attention, en pourcentage par ligne"/>
          <p:cNvPicPr>
            <a:picLocks noChangeAspect="1"/>
          </p:cNvPicPr>
          <p:nvPr/>
        </p:nvPicPr>
        <p:blipFill>
          <a:blip r:embed="rId4"/>
          <a:srcRect t="-117" b="-117"/>
          <a:stretch/>
        </p:blipFill>
        <p:spPr>
          <a:xfrm>
            <a:off x="716280" y="2545082"/>
            <a:ext cx="7152640" cy="3149600"/>
          </a:xfrm>
          <a:prstGeom prst="rect">
            <a:avLst/>
          </a:prstGeom>
        </p:spPr>
      </p:pic>
      <p:sp>
        <p:nvSpPr>
          <p:cNvPr id="29" name="Shape 21"/>
          <p:cNvSpPr/>
          <p:nvPr/>
        </p:nvSpPr>
        <p:spPr>
          <a:xfrm>
            <a:off x="8156575" y="2441575"/>
            <a:ext cx="3422650" cy="814070"/>
          </a:xfrm>
          <a:prstGeom prst="roundRect">
            <a:avLst>
              <a:gd name="adj" fmla="val 12090"/>
            </a:avLst>
          </a:prstGeom>
          <a:solidFill>
            <a:srgbClr val="FCFCFB"/>
          </a:solidFill>
          <a:ln w="6350">
            <a:solidFill>
              <a:srgbClr val="E1E0D9"/>
            </a:solidFill>
            <a:prstDash val="solid"/>
          </a:ln>
        </p:spPr>
        <p:txBody>
          <a:bodyPr/>
          <a:lstStyle/>
          <a:p>
            <a:endParaRPr lang="fr-FR"/>
          </a:p>
        </p:txBody>
      </p:sp>
      <p:sp>
        <p:nvSpPr>
          <p:cNvPr id="30" name="Text 22"/>
          <p:cNvSpPr/>
          <p:nvPr/>
        </p:nvSpPr>
        <p:spPr>
          <a:xfrm>
            <a:off x="8310880" y="2545082"/>
            <a:ext cx="3207461"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1F5FB0"/>
                </a:solidFill>
                <a:latin typeface="DM Sans" pitchFamily="34" charset="0"/>
                <a:ea typeface="DM Sans" pitchFamily="34" charset="-122"/>
                <a:cs typeface="DM Sans" pitchFamily="34" charset="-120"/>
              </a:rPr>
              <a:t>93,1 %</a:t>
            </a:r>
            <a:endParaRPr lang="en-US" sz="2800" dirty="0"/>
          </a:p>
        </p:txBody>
      </p:sp>
      <p:sp>
        <p:nvSpPr>
          <p:cNvPr id="31" name="Text 23"/>
          <p:cNvSpPr/>
          <p:nvPr/>
        </p:nvSpPr>
        <p:spPr>
          <a:xfrm>
            <a:off x="8310880" y="2938782"/>
            <a:ext cx="32074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des N bien classés (CNN + rythme : 86,4 %)</a:t>
            </a:r>
            <a:endParaRPr lang="en-US" sz="1200" dirty="0"/>
          </a:p>
        </p:txBody>
      </p:sp>
      <p:sp>
        <p:nvSpPr>
          <p:cNvPr id="32" name="Shape 24"/>
          <p:cNvSpPr/>
          <p:nvPr/>
        </p:nvSpPr>
        <p:spPr>
          <a:xfrm>
            <a:off x="8156575" y="3363596"/>
            <a:ext cx="3422650" cy="814070"/>
          </a:xfrm>
          <a:prstGeom prst="roundRect">
            <a:avLst>
              <a:gd name="adj" fmla="val 12090"/>
            </a:avLst>
          </a:prstGeom>
          <a:solidFill>
            <a:srgbClr val="FCFCFB"/>
          </a:solidFill>
          <a:ln w="6350">
            <a:solidFill>
              <a:srgbClr val="E1E0D9"/>
            </a:solidFill>
            <a:prstDash val="solid"/>
          </a:ln>
        </p:spPr>
        <p:txBody>
          <a:bodyPr/>
          <a:lstStyle/>
          <a:p>
            <a:endParaRPr lang="fr-FR"/>
          </a:p>
        </p:txBody>
      </p:sp>
      <p:sp>
        <p:nvSpPr>
          <p:cNvPr id="33" name="Text 25"/>
          <p:cNvSpPr/>
          <p:nvPr/>
        </p:nvSpPr>
        <p:spPr>
          <a:xfrm>
            <a:off x="8310880" y="3467100"/>
            <a:ext cx="3207461"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1F5FB0"/>
                </a:solidFill>
                <a:latin typeface="DM Sans" pitchFamily="34" charset="0"/>
                <a:ea typeface="DM Sans" pitchFamily="34" charset="-122"/>
                <a:cs typeface="DM Sans" pitchFamily="34" charset="-120"/>
              </a:rPr>
              <a:t>2 666</a:t>
            </a:r>
            <a:endParaRPr lang="en-US" sz="2800" dirty="0"/>
          </a:p>
        </p:txBody>
      </p:sp>
      <p:sp>
        <p:nvSpPr>
          <p:cNvPr id="34" name="Text 26"/>
          <p:cNvSpPr/>
          <p:nvPr/>
        </p:nvSpPr>
        <p:spPr>
          <a:xfrm>
            <a:off x="8310880" y="3860800"/>
            <a:ext cx="32074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N prédits S (CNN + rythme : 4 087)</a:t>
            </a:r>
            <a:endParaRPr lang="en-US" sz="1200" dirty="0"/>
          </a:p>
        </p:txBody>
      </p:sp>
      <p:sp>
        <p:nvSpPr>
          <p:cNvPr id="35" name="Shape 27"/>
          <p:cNvSpPr/>
          <p:nvPr/>
        </p:nvSpPr>
        <p:spPr>
          <a:xfrm>
            <a:off x="8156575" y="4285617"/>
            <a:ext cx="3422650" cy="814070"/>
          </a:xfrm>
          <a:prstGeom prst="roundRect">
            <a:avLst>
              <a:gd name="adj" fmla="val 12090"/>
            </a:avLst>
          </a:prstGeom>
          <a:solidFill>
            <a:srgbClr val="FCFCFB"/>
          </a:solidFill>
          <a:ln w="6350">
            <a:solidFill>
              <a:srgbClr val="E1E0D9"/>
            </a:solidFill>
            <a:prstDash val="solid"/>
          </a:ln>
        </p:spPr>
        <p:txBody>
          <a:bodyPr/>
          <a:lstStyle/>
          <a:p>
            <a:endParaRPr lang="fr-FR"/>
          </a:p>
        </p:txBody>
      </p:sp>
      <p:sp>
        <p:nvSpPr>
          <p:cNvPr id="36" name="Text 28"/>
          <p:cNvSpPr/>
          <p:nvPr/>
        </p:nvSpPr>
        <p:spPr>
          <a:xfrm>
            <a:off x="8310880" y="4389121"/>
            <a:ext cx="3207461" cy="381000"/>
          </a:xfrm>
          <a:prstGeom prst="rect">
            <a:avLst/>
          </a:prstGeom>
          <a:noFill/>
          <a:ln/>
        </p:spPr>
        <p:txBody>
          <a:bodyPr wrap="square" lIns="0" tIns="0" rIns="0" bIns="0" rtlCol="0" anchor="t">
            <a:normAutofit/>
          </a:bodyPr>
          <a:lstStyle/>
          <a:p>
            <a:pPr marL="0" indent="0" algn="l">
              <a:lnSpc>
                <a:spcPts val="2800"/>
              </a:lnSpc>
              <a:buNone/>
            </a:pPr>
            <a:r>
              <a:rPr lang="en-US" sz="2800" b="1" dirty="0">
                <a:solidFill>
                  <a:srgbClr val="1F5FB0"/>
                </a:solidFill>
                <a:latin typeface="DM Sans" pitchFamily="34" charset="0"/>
                <a:ea typeface="DM Sans" pitchFamily="34" charset="-122"/>
                <a:cs typeface="DM Sans" pitchFamily="34" charset="-120"/>
              </a:rPr>
              <a:t>51</a:t>
            </a:r>
            <a:endParaRPr lang="en-US" sz="2800" dirty="0"/>
          </a:p>
        </p:txBody>
      </p:sp>
      <p:sp>
        <p:nvSpPr>
          <p:cNvPr id="37" name="Text 29"/>
          <p:cNvSpPr/>
          <p:nvPr/>
        </p:nvSpPr>
        <p:spPr>
          <a:xfrm>
            <a:off x="8310880" y="4782821"/>
            <a:ext cx="320746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F détectés sur 388 (CNN + rythme : 4)</a:t>
            </a:r>
            <a:endParaRPr lang="en-US" sz="1200" dirty="0"/>
          </a:p>
        </p:txBody>
      </p:sp>
      <p:sp>
        <p:nvSpPr>
          <p:cNvPr id="38" name="Text 30"/>
          <p:cNvSpPr/>
          <p:nvPr/>
        </p:nvSpPr>
        <p:spPr>
          <a:xfrm>
            <a:off x="609600" y="6365242"/>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Classification de séries temporelles ECG · MIT-BIH · résultats intermédiaires</a:t>
            </a:r>
            <a:endParaRPr lang="en-US" sz="1200" dirty="0"/>
          </a:p>
        </p:txBody>
      </p:sp>
      <p:sp>
        <p:nvSpPr>
          <p:cNvPr id="39" name="Text 31"/>
          <p:cNvSpPr/>
          <p:nvPr/>
        </p:nvSpPr>
        <p:spPr>
          <a:xfrm>
            <a:off x="10261600" y="6365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IBM Plex Sans" pitchFamily="34" charset="0"/>
                <a:ea typeface="IBM Plex Sans" pitchFamily="34" charset="-122"/>
                <a:cs typeface="IBM Plex Sans" pitchFamily="34" charset="-120"/>
              </a:rPr>
              <a:t>8 / 10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6F2"/>
        </a:solidFill>
        <a:effectLst/>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F5FB0"/>
                </a:solidFill>
                <a:latin typeface="IBM Plex Sans" pitchFamily="34" charset="0"/>
                <a:ea typeface="IBM Plex Sans" pitchFamily="34" charset="-122"/>
                <a:cs typeface="IBM Plex Sans" pitchFamily="34" charset="-120"/>
              </a:rPr>
              <a:t>09 · COMPARAISON</a:t>
            </a:r>
            <a:endParaRPr lang="en-US" sz="1200" dirty="0"/>
          </a:p>
        </p:txBody>
      </p:sp>
      <p:sp>
        <p:nvSpPr>
          <p:cNvPr id="3" name="Text 1"/>
          <p:cNvSpPr>
            <a:spLocks noGrp="1"/>
          </p:cNvSpPr>
          <p:nvPr>
            <p:ph type="title"/>
          </p:nvPr>
        </p:nvSpPr>
        <p:spPr>
          <a:xfrm>
            <a:off x="609600" y="734064"/>
            <a:ext cx="11301984" cy="41656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F1B2D"/>
                </a:solidFill>
                <a:latin typeface="DM Sans" pitchFamily="34" charset="0"/>
                <a:ea typeface="DM Sans" pitchFamily="34" charset="-122"/>
                <a:cs typeface="DM Sans" pitchFamily="34" charset="-120"/>
              </a:rPr>
              <a:t>Le CNN-LSTM est le meilleur, avec des compromis</a:t>
            </a:r>
            <a:endParaRPr lang="en-US" sz="2800" dirty="0"/>
          </a:p>
        </p:txBody>
      </p:sp>
      <p:sp>
        <p:nvSpPr>
          <p:cNvPr id="4" name="Shape 2"/>
          <p:cNvSpPr/>
          <p:nvPr/>
        </p:nvSpPr>
        <p:spPr>
          <a:xfrm>
            <a:off x="612775" y="1306196"/>
            <a:ext cx="6724650" cy="2183130"/>
          </a:xfrm>
          <a:prstGeom prst="roundRect">
            <a:avLst>
              <a:gd name="adj" fmla="val 4508"/>
            </a:avLst>
          </a:prstGeom>
          <a:solidFill>
            <a:srgbClr val="FCFCFB"/>
          </a:solidFill>
          <a:ln w="6350">
            <a:solidFill>
              <a:srgbClr val="E1E0D9"/>
            </a:solidFill>
            <a:prstDash val="solid"/>
          </a:ln>
        </p:spPr>
        <p:txBody>
          <a:bodyPr/>
          <a:lstStyle/>
          <a:p>
            <a:endParaRPr lang="fr-FR"/>
          </a:p>
        </p:txBody>
      </p:sp>
      <p:sp>
        <p:nvSpPr>
          <p:cNvPr id="5" name="Text 3"/>
          <p:cNvSpPr/>
          <p:nvPr/>
        </p:nvSpPr>
        <p:spPr>
          <a:xfrm>
            <a:off x="767080" y="1435100"/>
            <a:ext cx="6608521"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Test, moyenne sur 5 seeds</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1709424"/>
          <a:ext cx="6405879" cy="1651000"/>
        </p:xfrm>
        <a:graphic>
          <a:graphicData uri="http://schemas.openxmlformats.org/drawingml/2006/table">
            <a:tbl>
              <a:tblPr/>
              <a:tblGrid>
                <a:gridCol w="1318858">
                  <a:extLst>
                    <a:ext uri="{9D8B030D-6E8A-4147-A177-3AD203B41FA5}">
                      <a16:colId xmlns:a16="http://schemas.microsoft.com/office/drawing/2014/main" val="20000"/>
                    </a:ext>
                  </a:extLst>
                </a:gridCol>
                <a:gridCol w="879238">
                  <a:extLst>
                    <a:ext uri="{9D8B030D-6E8A-4147-A177-3AD203B41FA5}">
                      <a16:colId xmlns:a16="http://schemas.microsoft.com/office/drawing/2014/main" val="20001"/>
                    </a:ext>
                  </a:extLst>
                </a:gridCol>
                <a:gridCol w="1444463">
                  <a:extLst>
                    <a:ext uri="{9D8B030D-6E8A-4147-A177-3AD203B41FA5}">
                      <a16:colId xmlns:a16="http://schemas.microsoft.com/office/drawing/2014/main" val="20002"/>
                    </a:ext>
                  </a:extLst>
                </a:gridCol>
                <a:gridCol w="690830">
                  <a:extLst>
                    <a:ext uri="{9D8B030D-6E8A-4147-A177-3AD203B41FA5}">
                      <a16:colId xmlns:a16="http://schemas.microsoft.com/office/drawing/2014/main" val="20003"/>
                    </a:ext>
                  </a:extLst>
                </a:gridCol>
                <a:gridCol w="690830">
                  <a:extLst>
                    <a:ext uri="{9D8B030D-6E8A-4147-A177-3AD203B41FA5}">
                      <a16:colId xmlns:a16="http://schemas.microsoft.com/office/drawing/2014/main" val="20004"/>
                    </a:ext>
                  </a:extLst>
                </a:gridCol>
                <a:gridCol w="690830">
                  <a:extLst>
                    <a:ext uri="{9D8B030D-6E8A-4147-A177-3AD203B41FA5}">
                      <a16:colId xmlns:a16="http://schemas.microsoft.com/office/drawing/2014/main" val="20005"/>
                    </a:ext>
                  </a:extLst>
                </a:gridCol>
                <a:gridCol w="690830">
                  <a:extLst>
                    <a:ext uri="{9D8B030D-6E8A-4147-A177-3AD203B41FA5}">
                      <a16:colId xmlns:a16="http://schemas.microsoft.com/office/drawing/2014/main" val="20006"/>
                    </a:ext>
                  </a:extLst>
                </a:gridCol>
              </a:tblGrid>
              <a:tr h="330200">
                <a:tc>
                  <a:txBody>
                    <a:bodyPr/>
                    <a:lstStyle/>
                    <a:p>
                      <a:pPr marL="0" indent="0">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Modèle</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marL="0" indent="0" algn="r">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Accuracy</a:t>
                      </a:r>
                      <a:endParaRPr lang="en-US" sz="1200" dirty="0">
                        <a:latin typeface="IBM Plex Sans" charset="0"/>
                        <a:ea typeface="IBM Plex Sans" charset="0"/>
                        <a:cs typeface="IBM Plex Sans" charset="0"/>
                      </a:endParaRPr>
                    </a:p>
                  </a:txBody>
                  <a:tcPr marL="53340" marR="53340" marT="53340" marB="53340">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marL="0" indent="0" algn="r">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F1 macro</a:t>
                      </a:r>
                      <a:endParaRPr lang="en-US" sz="1200" dirty="0">
                        <a:latin typeface="IBM Plex Sans" charset="0"/>
                        <a:ea typeface="IBM Plex Sans" charset="0"/>
                        <a:cs typeface="IBM Plex Sans" charset="0"/>
                      </a:endParaRPr>
                    </a:p>
                  </a:txBody>
                  <a:tcPr marL="53340" marR="53340" marT="53340" marB="53340">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marL="0" indent="0" algn="r">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F1 N</a:t>
                      </a:r>
                      <a:endParaRPr lang="en-US" sz="1200" dirty="0">
                        <a:latin typeface="IBM Plex Sans" charset="0"/>
                        <a:ea typeface="IBM Plex Sans" charset="0"/>
                        <a:cs typeface="IBM Plex Sans" charset="0"/>
                      </a:endParaRPr>
                    </a:p>
                  </a:txBody>
                  <a:tcPr marL="53340" marR="53340" marT="53340" marB="53340">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marL="0" indent="0" algn="r">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F1 S</a:t>
                      </a:r>
                      <a:endParaRPr lang="en-US" sz="1200" dirty="0">
                        <a:latin typeface="IBM Plex Sans" charset="0"/>
                        <a:ea typeface="IBM Plex Sans" charset="0"/>
                        <a:cs typeface="IBM Plex Sans" charset="0"/>
                      </a:endParaRPr>
                    </a:p>
                  </a:txBody>
                  <a:tcPr marL="53340" marR="53340" marT="53340" marB="53340">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marL="0" indent="0" algn="r">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F1 V</a:t>
                      </a:r>
                      <a:endParaRPr lang="en-US" sz="1200" dirty="0">
                        <a:latin typeface="IBM Plex Sans" charset="0"/>
                        <a:ea typeface="IBM Plex Sans" charset="0"/>
                        <a:cs typeface="IBM Plex Sans" charset="0"/>
                      </a:endParaRPr>
                    </a:p>
                  </a:txBody>
                  <a:tcPr marL="53340" marR="53340" marT="53340" marB="53340">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marL="0" indent="0" algn="r">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F1 F</a:t>
                      </a:r>
                      <a:endParaRPr lang="en-US" sz="1200" dirty="0">
                        <a:latin typeface="IBM Plex Sans" charset="0"/>
                        <a:ea typeface="IBM Plex Sans" charset="0"/>
                        <a:cs typeface="IBM Plex Sans" charset="0"/>
                      </a:endParaRPr>
                    </a:p>
                  </a:txBody>
                  <a:tcPr marL="53340" marR="53340" marT="53340" marB="53340">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7202E"/>
                          </a:solidFill>
                          <a:latin typeface="IBM Plex Sans" pitchFamily="34" charset="0"/>
                          <a:ea typeface="IBM Plex Sans" pitchFamily="34" charset="-122"/>
                          <a:cs typeface="IBM Plex Sans" pitchFamily="34" charset="-120"/>
                        </a:rPr>
                        <a:t>RF</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0,943</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0,501 ± 0,002</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0,970</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0,118</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0,901</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0,015</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7202E"/>
                          </a:solidFill>
                          <a:latin typeface="IBM Plex Sans" pitchFamily="34" charset="0"/>
                          <a:ea typeface="IBM Plex Sans" pitchFamily="34" charset="-122"/>
                          <a:cs typeface="IBM Plex Sans" pitchFamily="34" charset="-120"/>
                        </a:rPr>
                        <a:t>CNN</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0,842</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0,433 ± 0,032</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0,912</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0,035</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0,784</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0,001</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7202E"/>
                          </a:solidFill>
                          <a:latin typeface="IBM Plex Sans" pitchFamily="34" charset="0"/>
                          <a:ea typeface="IBM Plex Sans" pitchFamily="34" charset="-122"/>
                          <a:cs typeface="IBM Plex Sans" pitchFamily="34" charset="-120"/>
                        </a:rPr>
                        <a:t>CNN + rythme</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0,848</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0,522 ± 0,029</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0,911</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0,295</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0,876</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0,004</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17202E"/>
                          </a:solidFill>
                          <a:latin typeface="IBM Plex Sans" pitchFamily="34" charset="0"/>
                          <a:ea typeface="IBM Plex Sans" pitchFamily="34" charset="-122"/>
                          <a:cs typeface="IBM Plex Sans" pitchFamily="34" charset="-120"/>
                        </a:rPr>
                        <a:t>CNN-LSTM</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0,906</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0,590 ± 0,051</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0,948</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0,350</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0,893</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marL="0" indent="0" algn="r">
                        <a:lnSpc>
                          <a:spcPts val="1680"/>
                        </a:lnSpc>
                        <a:buNone/>
                      </a:pPr>
                      <a:r>
                        <a:rPr lang="en-US" sz="1200" dirty="0">
                          <a:solidFill>
                            <a:srgbClr val="17202E"/>
                          </a:solidFill>
                          <a:latin typeface="IBM Plex Sans" pitchFamily="34" charset="0"/>
                          <a:ea typeface="IBM Plex Sans" pitchFamily="34" charset="-122"/>
                          <a:cs typeface="IBM Plex Sans" pitchFamily="34" charset="-120"/>
                        </a:rPr>
                        <a:t>0,170</a:t>
                      </a:r>
                      <a:endParaRPr lang="en-US" sz="1200" dirty="0">
                        <a:latin typeface="IBM Plex Sans" charset="0"/>
                        <a:ea typeface="IBM Plex Sans" charset="0"/>
                        <a:cs typeface="IBM Plex Sans" charset="0"/>
                      </a:endParaRPr>
                    </a:p>
                  </a:txBody>
                  <a:tcPr marL="53340" marR="53340" marT="53340" marB="53340">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Shape 4"/>
          <p:cNvSpPr/>
          <p:nvPr/>
        </p:nvSpPr>
        <p:spPr>
          <a:xfrm>
            <a:off x="612775" y="3796029"/>
            <a:ext cx="6724650" cy="1080135"/>
          </a:xfrm>
          <a:prstGeom prst="roundRect">
            <a:avLst>
              <a:gd name="adj" fmla="val 9112"/>
            </a:avLst>
          </a:prstGeom>
          <a:solidFill>
            <a:srgbClr val="FCFCFB"/>
          </a:solidFill>
          <a:ln w="6350">
            <a:solidFill>
              <a:srgbClr val="E1E0D9"/>
            </a:solidFill>
            <a:prstDash val="solid"/>
          </a:ln>
        </p:spPr>
        <p:txBody>
          <a:bodyPr/>
          <a:lstStyle/>
          <a:p>
            <a:endParaRPr lang="fr-FR"/>
          </a:p>
        </p:txBody>
      </p:sp>
      <p:sp>
        <p:nvSpPr>
          <p:cNvPr id="8" name="Text 5"/>
          <p:cNvSpPr/>
          <p:nvPr/>
        </p:nvSpPr>
        <p:spPr>
          <a:xfrm>
            <a:off x="838200" y="3950339"/>
            <a:ext cx="6529781" cy="796925"/>
          </a:xfrm>
          <a:prstGeom prst="rect">
            <a:avLst/>
          </a:prstGeom>
          <a:noFill/>
          <a:ln/>
        </p:spPr>
        <p:txBody>
          <a:bodyPr wrap="square" lIns="0" tIns="0" rIns="0" bIns="0" rtlCol="0" anchor="t">
            <a:normAutofit/>
          </a:bodyPr>
          <a:lstStyle/>
          <a:p>
            <a:pPr marL="182880" indent="-182880" algn="l">
              <a:lnSpc>
                <a:spcPts val="2025"/>
              </a:lnSpc>
              <a:buSzPct val="100000"/>
              <a:buChar char="•"/>
            </a:pPr>
            <a:r>
              <a:rPr lang="en-US" sz="1500" dirty="0">
                <a:solidFill>
                  <a:srgbClr val="17202E"/>
                </a:solidFill>
                <a:latin typeface="IBM Plex Sans" pitchFamily="34" charset="0"/>
                <a:ea typeface="IBM Plex Sans" pitchFamily="34" charset="-122"/>
                <a:cs typeface="IBM Plex Sans" pitchFamily="34" charset="-120"/>
              </a:rPr>
              <a:t>Meilleur en F1 macro, sur S et sur F : CNN-LSTM</a:t>
            </a:r>
            <a:endParaRPr lang="en-US" sz="1500" dirty="0"/>
          </a:p>
          <a:p>
            <a:pPr marL="182880" indent="-182880" algn="l">
              <a:lnSpc>
                <a:spcPts val="2025"/>
              </a:lnSpc>
              <a:buSzPct val="100000"/>
              <a:buChar char="•"/>
            </a:pPr>
            <a:r>
              <a:rPr lang="en-US" sz="1500" dirty="0">
                <a:solidFill>
                  <a:srgbClr val="17202E"/>
                </a:solidFill>
                <a:latin typeface="IBM Plex Sans" pitchFamily="34" charset="0"/>
                <a:ea typeface="IBM Plex Sans" pitchFamily="34" charset="-122"/>
                <a:cs typeface="IBM Plex Sans" pitchFamily="34" charset="-120"/>
              </a:rPr>
              <a:t>Meilleur sur N, V et en précision : RF</a:t>
            </a:r>
            <a:endParaRPr lang="en-US" sz="1500" dirty="0"/>
          </a:p>
          <a:p>
            <a:pPr marL="182880" indent="-182880" algn="l">
              <a:lnSpc>
                <a:spcPts val="2025"/>
              </a:lnSpc>
              <a:buSzPct val="100000"/>
              <a:buChar char="•"/>
            </a:pPr>
            <a:r>
              <a:rPr lang="en-US" sz="1500" dirty="0">
                <a:solidFill>
                  <a:srgbClr val="17202E"/>
                </a:solidFill>
                <a:latin typeface="IBM Plex Sans" pitchFamily="34" charset="0"/>
                <a:ea typeface="IBM Plex Sans" pitchFamily="34" charset="-122"/>
                <a:cs typeface="IBM Plex Sans" pitchFamily="34" charset="-120"/>
              </a:rPr>
              <a:t>Fausses alertes sur N : RF 0,5 %, CNN-LSTM 6,9 %</a:t>
            </a:r>
            <a:endParaRPr lang="en-US" sz="1500" dirty="0"/>
          </a:p>
        </p:txBody>
      </p:sp>
      <p:sp>
        <p:nvSpPr>
          <p:cNvPr id="9" name="Shape 6"/>
          <p:cNvSpPr/>
          <p:nvPr/>
        </p:nvSpPr>
        <p:spPr>
          <a:xfrm>
            <a:off x="7521575" y="1306196"/>
            <a:ext cx="4057650" cy="3569970"/>
          </a:xfrm>
          <a:prstGeom prst="roundRect">
            <a:avLst>
              <a:gd name="adj" fmla="val 2757"/>
            </a:avLst>
          </a:prstGeom>
          <a:solidFill>
            <a:srgbClr val="FCFCFB"/>
          </a:solidFill>
          <a:ln w="6350">
            <a:solidFill>
              <a:srgbClr val="E1E0D9"/>
            </a:solidFill>
            <a:prstDash val="solid"/>
          </a:ln>
        </p:spPr>
        <p:txBody>
          <a:bodyPr/>
          <a:lstStyle/>
          <a:p>
            <a:endParaRPr lang="fr-FR"/>
          </a:p>
        </p:txBody>
      </p:sp>
      <p:sp>
        <p:nvSpPr>
          <p:cNvPr id="10" name="Text 7"/>
          <p:cNvSpPr/>
          <p:nvPr/>
        </p:nvSpPr>
        <p:spPr>
          <a:xfrm>
            <a:off x="7701280" y="1485900"/>
            <a:ext cx="380918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02E"/>
                </a:solidFill>
                <a:latin typeface="IBM Plex Sans" pitchFamily="34" charset="0"/>
                <a:ea typeface="IBM Plex Sans" pitchFamily="34" charset="-122"/>
                <a:cs typeface="IBM Plex Sans" pitchFamily="34" charset="-120"/>
              </a:rPr>
              <a:t>F1 par classe, test</a:t>
            </a:r>
            <a:endParaRPr lang="en-US" sz="1200" dirty="0"/>
          </a:p>
        </p:txBody>
      </p:sp>
      <p:sp>
        <p:nvSpPr>
          <p:cNvPr id="11" name="Shape 8"/>
          <p:cNvSpPr/>
          <p:nvPr/>
        </p:nvSpPr>
        <p:spPr>
          <a:xfrm>
            <a:off x="7701280" y="1812292"/>
            <a:ext cx="114300" cy="114300"/>
          </a:xfrm>
          <a:prstGeom prst="roundRect">
            <a:avLst>
              <a:gd name="adj" fmla="val 22222"/>
            </a:avLst>
          </a:prstGeom>
          <a:solidFill>
            <a:srgbClr val="8A94A6"/>
          </a:solidFill>
          <a:ln/>
        </p:spPr>
        <p:txBody>
          <a:bodyPr/>
          <a:lstStyle/>
          <a:p>
            <a:endParaRPr lang="fr-FR"/>
          </a:p>
        </p:txBody>
      </p:sp>
      <p:sp>
        <p:nvSpPr>
          <p:cNvPr id="12" name="Text 9"/>
          <p:cNvSpPr/>
          <p:nvPr/>
        </p:nvSpPr>
        <p:spPr>
          <a:xfrm>
            <a:off x="7879080" y="1762764"/>
            <a:ext cx="23360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RF</a:t>
            </a:r>
            <a:endParaRPr lang="en-US" sz="1200" dirty="0"/>
          </a:p>
        </p:txBody>
      </p:sp>
      <p:sp>
        <p:nvSpPr>
          <p:cNvPr id="13" name="Shape 10"/>
          <p:cNvSpPr/>
          <p:nvPr/>
        </p:nvSpPr>
        <p:spPr>
          <a:xfrm>
            <a:off x="9550400" y="1812292"/>
            <a:ext cx="114300" cy="114300"/>
          </a:xfrm>
          <a:prstGeom prst="roundRect">
            <a:avLst>
              <a:gd name="adj" fmla="val 22222"/>
            </a:avLst>
          </a:prstGeom>
          <a:solidFill>
            <a:srgbClr val="86B6EF"/>
          </a:solidFill>
          <a:ln/>
        </p:spPr>
        <p:txBody>
          <a:bodyPr/>
          <a:lstStyle/>
          <a:p>
            <a:endParaRPr lang="fr-FR"/>
          </a:p>
        </p:txBody>
      </p:sp>
      <p:sp>
        <p:nvSpPr>
          <p:cNvPr id="14" name="Text 11"/>
          <p:cNvSpPr/>
          <p:nvPr/>
        </p:nvSpPr>
        <p:spPr>
          <a:xfrm>
            <a:off x="9728200" y="1762764"/>
            <a:ext cx="37223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CNN</a:t>
            </a:r>
            <a:endParaRPr lang="en-US" sz="1200" dirty="0"/>
          </a:p>
        </p:txBody>
      </p:sp>
      <p:sp>
        <p:nvSpPr>
          <p:cNvPr id="15" name="Shape 12"/>
          <p:cNvSpPr/>
          <p:nvPr/>
        </p:nvSpPr>
        <p:spPr>
          <a:xfrm>
            <a:off x="7701280" y="2025650"/>
            <a:ext cx="114300" cy="114300"/>
          </a:xfrm>
          <a:prstGeom prst="roundRect">
            <a:avLst>
              <a:gd name="adj" fmla="val 22222"/>
            </a:avLst>
          </a:prstGeom>
          <a:solidFill>
            <a:srgbClr val="3987E5"/>
          </a:solidFill>
          <a:ln/>
        </p:spPr>
        <p:txBody>
          <a:bodyPr/>
          <a:lstStyle/>
          <a:p>
            <a:endParaRPr lang="fr-FR"/>
          </a:p>
        </p:txBody>
      </p:sp>
      <p:sp>
        <p:nvSpPr>
          <p:cNvPr id="16" name="Text 13"/>
          <p:cNvSpPr/>
          <p:nvPr/>
        </p:nvSpPr>
        <p:spPr>
          <a:xfrm>
            <a:off x="7879080" y="1976121"/>
            <a:ext cx="115662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CNN + rythme</a:t>
            </a:r>
            <a:endParaRPr lang="en-US" sz="1200" dirty="0"/>
          </a:p>
        </p:txBody>
      </p:sp>
      <p:sp>
        <p:nvSpPr>
          <p:cNvPr id="17" name="Shape 14"/>
          <p:cNvSpPr/>
          <p:nvPr/>
        </p:nvSpPr>
        <p:spPr>
          <a:xfrm>
            <a:off x="9550400" y="2025650"/>
            <a:ext cx="114300" cy="114300"/>
          </a:xfrm>
          <a:prstGeom prst="roundRect">
            <a:avLst>
              <a:gd name="adj" fmla="val 22222"/>
            </a:avLst>
          </a:prstGeom>
          <a:solidFill>
            <a:srgbClr val="0D366B"/>
          </a:solidFill>
          <a:ln/>
        </p:spPr>
        <p:txBody>
          <a:bodyPr/>
          <a:lstStyle/>
          <a:p>
            <a:endParaRPr lang="fr-FR"/>
          </a:p>
        </p:txBody>
      </p:sp>
      <p:sp>
        <p:nvSpPr>
          <p:cNvPr id="18" name="Text 15"/>
          <p:cNvSpPr/>
          <p:nvPr/>
        </p:nvSpPr>
        <p:spPr>
          <a:xfrm>
            <a:off x="9728200" y="1976121"/>
            <a:ext cx="89382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CNN-LSTM</a:t>
            </a:r>
            <a:endParaRPr lang="en-US" sz="1200" dirty="0"/>
          </a:p>
        </p:txBody>
      </p:sp>
      <p:sp>
        <p:nvSpPr>
          <p:cNvPr id="19" name="Text 16"/>
          <p:cNvSpPr/>
          <p:nvPr/>
        </p:nvSpPr>
        <p:spPr>
          <a:xfrm>
            <a:off x="7701280" y="2252979"/>
            <a:ext cx="190459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N</a:t>
            </a:r>
            <a:endParaRPr lang="en-US" sz="1500" dirty="0"/>
          </a:p>
        </p:txBody>
      </p:sp>
      <p:sp>
        <p:nvSpPr>
          <p:cNvPr id="20" name="Shape 17"/>
          <p:cNvSpPr/>
          <p:nvPr/>
        </p:nvSpPr>
        <p:spPr>
          <a:xfrm>
            <a:off x="7701280" y="2569214"/>
            <a:ext cx="1295400" cy="165100"/>
          </a:xfrm>
          <a:custGeom>
            <a:avLst/>
            <a:gdLst/>
            <a:ahLst/>
            <a:cxnLst/>
            <a:rect l="l" t="t" r="r" b="b"/>
            <a:pathLst>
              <a:path w="1295400" h="165100">
                <a:moveTo>
                  <a:pt x="0" y="0"/>
                </a:moveTo>
                <a:lnTo>
                  <a:pt x="1270000" y="0"/>
                </a:lnTo>
                <a:arcTo wR="25400" hR="25400" stAng="16200000" swAng="5400000"/>
                <a:lnTo>
                  <a:pt x="1295400" y="139700"/>
                </a:lnTo>
                <a:arcTo wR="25400" hR="25400" stAng="0" swAng="5400000"/>
                <a:lnTo>
                  <a:pt x="0" y="165100"/>
                </a:lnTo>
                <a:lnTo>
                  <a:pt x="0" y="0"/>
                </a:lnTo>
                <a:close/>
              </a:path>
            </a:pathLst>
          </a:custGeom>
          <a:solidFill>
            <a:srgbClr val="8A94A6"/>
          </a:solidFill>
          <a:ln/>
        </p:spPr>
        <p:txBody>
          <a:bodyPr/>
          <a:lstStyle/>
          <a:p>
            <a:endParaRPr lang="fr-FR"/>
          </a:p>
        </p:txBody>
      </p:sp>
      <p:sp>
        <p:nvSpPr>
          <p:cNvPr id="21" name="Text 18"/>
          <p:cNvSpPr/>
          <p:nvPr/>
        </p:nvSpPr>
        <p:spPr>
          <a:xfrm>
            <a:off x="9047480" y="2545079"/>
            <a:ext cx="48872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0,970</a:t>
            </a:r>
            <a:endParaRPr lang="en-US" sz="1200" dirty="0"/>
          </a:p>
        </p:txBody>
      </p:sp>
      <p:sp>
        <p:nvSpPr>
          <p:cNvPr id="22" name="Shape 19"/>
          <p:cNvSpPr/>
          <p:nvPr/>
        </p:nvSpPr>
        <p:spPr>
          <a:xfrm>
            <a:off x="7701280" y="2807971"/>
            <a:ext cx="1219200" cy="165100"/>
          </a:xfrm>
          <a:custGeom>
            <a:avLst/>
            <a:gdLst/>
            <a:ahLst/>
            <a:cxnLst/>
            <a:rect l="l" t="t" r="r" b="b"/>
            <a:pathLst>
              <a:path w="1219200" h="165100">
                <a:moveTo>
                  <a:pt x="0" y="0"/>
                </a:moveTo>
                <a:lnTo>
                  <a:pt x="1193800" y="0"/>
                </a:lnTo>
                <a:arcTo wR="25400" hR="25400" stAng="16200000" swAng="5400000"/>
                <a:lnTo>
                  <a:pt x="1219200" y="139700"/>
                </a:lnTo>
                <a:arcTo wR="25400" hR="25400" stAng="0" swAng="5400000"/>
                <a:lnTo>
                  <a:pt x="0" y="165100"/>
                </a:lnTo>
                <a:lnTo>
                  <a:pt x="0" y="0"/>
                </a:lnTo>
                <a:close/>
              </a:path>
            </a:pathLst>
          </a:custGeom>
          <a:solidFill>
            <a:srgbClr val="86B6EF"/>
          </a:solidFill>
          <a:ln/>
        </p:spPr>
        <p:txBody>
          <a:bodyPr/>
          <a:lstStyle/>
          <a:p>
            <a:endParaRPr lang="fr-FR"/>
          </a:p>
        </p:txBody>
      </p:sp>
      <p:sp>
        <p:nvSpPr>
          <p:cNvPr id="23" name="Text 20"/>
          <p:cNvSpPr/>
          <p:nvPr/>
        </p:nvSpPr>
        <p:spPr>
          <a:xfrm>
            <a:off x="8971280" y="2783842"/>
            <a:ext cx="48872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0,912</a:t>
            </a:r>
            <a:endParaRPr lang="en-US" sz="1200" dirty="0"/>
          </a:p>
        </p:txBody>
      </p:sp>
      <p:sp>
        <p:nvSpPr>
          <p:cNvPr id="24" name="Shape 21"/>
          <p:cNvSpPr/>
          <p:nvPr/>
        </p:nvSpPr>
        <p:spPr>
          <a:xfrm>
            <a:off x="7701280" y="3046729"/>
            <a:ext cx="1212850" cy="165100"/>
          </a:xfrm>
          <a:custGeom>
            <a:avLst/>
            <a:gdLst/>
            <a:ahLst/>
            <a:cxnLst/>
            <a:rect l="l" t="t" r="r" b="b"/>
            <a:pathLst>
              <a:path w="1212850" h="165100">
                <a:moveTo>
                  <a:pt x="0" y="0"/>
                </a:moveTo>
                <a:lnTo>
                  <a:pt x="1187450" y="0"/>
                </a:lnTo>
                <a:arcTo wR="25400" hR="25400" stAng="16200000" swAng="5400000"/>
                <a:lnTo>
                  <a:pt x="1212850" y="139700"/>
                </a:lnTo>
                <a:arcTo wR="25400" hR="25400" stAng="0" swAng="5400000"/>
                <a:lnTo>
                  <a:pt x="0" y="165100"/>
                </a:lnTo>
                <a:lnTo>
                  <a:pt x="0" y="0"/>
                </a:lnTo>
                <a:close/>
              </a:path>
            </a:pathLst>
          </a:custGeom>
          <a:solidFill>
            <a:srgbClr val="3987E5"/>
          </a:solidFill>
          <a:ln/>
        </p:spPr>
        <p:txBody>
          <a:bodyPr/>
          <a:lstStyle/>
          <a:p>
            <a:endParaRPr lang="fr-FR"/>
          </a:p>
        </p:txBody>
      </p:sp>
      <p:sp>
        <p:nvSpPr>
          <p:cNvPr id="25" name="Text 22"/>
          <p:cNvSpPr/>
          <p:nvPr/>
        </p:nvSpPr>
        <p:spPr>
          <a:xfrm>
            <a:off x="8964930" y="3022600"/>
            <a:ext cx="48872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0,911</a:t>
            </a:r>
            <a:endParaRPr lang="en-US" sz="1200" dirty="0"/>
          </a:p>
        </p:txBody>
      </p:sp>
      <p:sp>
        <p:nvSpPr>
          <p:cNvPr id="26" name="Shape 23"/>
          <p:cNvSpPr/>
          <p:nvPr/>
        </p:nvSpPr>
        <p:spPr>
          <a:xfrm>
            <a:off x="7701280" y="3285492"/>
            <a:ext cx="1263650" cy="165100"/>
          </a:xfrm>
          <a:custGeom>
            <a:avLst/>
            <a:gdLst/>
            <a:ahLst/>
            <a:cxnLst/>
            <a:rect l="l" t="t" r="r" b="b"/>
            <a:pathLst>
              <a:path w="1263650" h="165100">
                <a:moveTo>
                  <a:pt x="0" y="0"/>
                </a:moveTo>
                <a:lnTo>
                  <a:pt x="1238250" y="0"/>
                </a:lnTo>
                <a:arcTo wR="25400" hR="25400" stAng="16200000" swAng="5400000"/>
                <a:lnTo>
                  <a:pt x="1263650" y="139700"/>
                </a:lnTo>
                <a:arcTo wR="25400" hR="25400" stAng="0" swAng="5400000"/>
                <a:lnTo>
                  <a:pt x="0" y="165100"/>
                </a:lnTo>
                <a:lnTo>
                  <a:pt x="0" y="0"/>
                </a:lnTo>
                <a:close/>
              </a:path>
            </a:pathLst>
          </a:custGeom>
          <a:solidFill>
            <a:srgbClr val="0D366B"/>
          </a:solidFill>
          <a:ln/>
        </p:spPr>
        <p:txBody>
          <a:bodyPr/>
          <a:lstStyle/>
          <a:p>
            <a:endParaRPr lang="fr-FR"/>
          </a:p>
        </p:txBody>
      </p:sp>
      <p:sp>
        <p:nvSpPr>
          <p:cNvPr id="27" name="Text 24"/>
          <p:cNvSpPr/>
          <p:nvPr/>
        </p:nvSpPr>
        <p:spPr>
          <a:xfrm>
            <a:off x="9015730" y="3261364"/>
            <a:ext cx="48872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0,948</a:t>
            </a:r>
            <a:endParaRPr lang="en-US" sz="1200" dirty="0"/>
          </a:p>
        </p:txBody>
      </p:sp>
      <p:sp>
        <p:nvSpPr>
          <p:cNvPr id="28" name="Text 25"/>
          <p:cNvSpPr/>
          <p:nvPr/>
        </p:nvSpPr>
        <p:spPr>
          <a:xfrm>
            <a:off x="9550400" y="2252979"/>
            <a:ext cx="190459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S</a:t>
            </a:r>
            <a:endParaRPr lang="en-US" sz="1500" dirty="0"/>
          </a:p>
        </p:txBody>
      </p:sp>
      <p:sp>
        <p:nvSpPr>
          <p:cNvPr id="29" name="Shape 26"/>
          <p:cNvSpPr/>
          <p:nvPr/>
        </p:nvSpPr>
        <p:spPr>
          <a:xfrm>
            <a:off x="9550400" y="2569214"/>
            <a:ext cx="158750" cy="165100"/>
          </a:xfrm>
          <a:custGeom>
            <a:avLst/>
            <a:gdLst/>
            <a:ahLst/>
            <a:cxnLst/>
            <a:rect l="l" t="t" r="r" b="b"/>
            <a:pathLst>
              <a:path w="158750" h="165100">
                <a:moveTo>
                  <a:pt x="0" y="0"/>
                </a:moveTo>
                <a:lnTo>
                  <a:pt x="133350" y="0"/>
                </a:lnTo>
                <a:arcTo wR="25400" hR="25400" stAng="16200000" swAng="5400000"/>
                <a:lnTo>
                  <a:pt x="158750" y="139700"/>
                </a:lnTo>
                <a:arcTo wR="25400" hR="25400" stAng="0" swAng="5400000"/>
                <a:lnTo>
                  <a:pt x="0" y="165100"/>
                </a:lnTo>
                <a:lnTo>
                  <a:pt x="0" y="0"/>
                </a:lnTo>
                <a:close/>
              </a:path>
            </a:pathLst>
          </a:custGeom>
          <a:solidFill>
            <a:srgbClr val="8A94A6"/>
          </a:solidFill>
          <a:ln/>
        </p:spPr>
        <p:txBody>
          <a:bodyPr/>
          <a:lstStyle/>
          <a:p>
            <a:endParaRPr lang="fr-FR"/>
          </a:p>
        </p:txBody>
      </p:sp>
      <p:sp>
        <p:nvSpPr>
          <p:cNvPr id="30" name="Text 27"/>
          <p:cNvSpPr/>
          <p:nvPr/>
        </p:nvSpPr>
        <p:spPr>
          <a:xfrm>
            <a:off x="9759950" y="2545079"/>
            <a:ext cx="48872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0,118</a:t>
            </a:r>
            <a:endParaRPr lang="en-US" sz="1200" dirty="0"/>
          </a:p>
        </p:txBody>
      </p:sp>
      <p:sp>
        <p:nvSpPr>
          <p:cNvPr id="31" name="Shape 28"/>
          <p:cNvSpPr/>
          <p:nvPr/>
        </p:nvSpPr>
        <p:spPr>
          <a:xfrm>
            <a:off x="9550400" y="2807971"/>
            <a:ext cx="44450" cy="165100"/>
          </a:xfrm>
          <a:custGeom>
            <a:avLst/>
            <a:gdLst/>
            <a:ahLst/>
            <a:cxnLst/>
            <a:rect l="l" t="t" r="r" b="b"/>
            <a:pathLst>
              <a:path w="44450" h="165100">
                <a:moveTo>
                  <a:pt x="0" y="0"/>
                </a:moveTo>
                <a:lnTo>
                  <a:pt x="19050" y="0"/>
                </a:lnTo>
                <a:arcTo wR="25400" hR="25400" stAng="16200000" swAng="5400000"/>
                <a:lnTo>
                  <a:pt x="44450" y="139700"/>
                </a:lnTo>
                <a:arcTo wR="25400" hR="25400" stAng="0" swAng="5400000"/>
                <a:lnTo>
                  <a:pt x="0" y="165100"/>
                </a:lnTo>
                <a:lnTo>
                  <a:pt x="0" y="0"/>
                </a:lnTo>
                <a:close/>
              </a:path>
            </a:pathLst>
          </a:custGeom>
          <a:solidFill>
            <a:srgbClr val="86B6EF"/>
          </a:solidFill>
          <a:ln/>
        </p:spPr>
        <p:txBody>
          <a:bodyPr/>
          <a:lstStyle/>
          <a:p>
            <a:endParaRPr lang="fr-FR"/>
          </a:p>
        </p:txBody>
      </p:sp>
      <p:sp>
        <p:nvSpPr>
          <p:cNvPr id="32" name="Text 29"/>
          <p:cNvSpPr/>
          <p:nvPr/>
        </p:nvSpPr>
        <p:spPr>
          <a:xfrm>
            <a:off x="9645650" y="2783842"/>
            <a:ext cx="48872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0,035</a:t>
            </a:r>
            <a:endParaRPr lang="en-US" sz="1200" dirty="0"/>
          </a:p>
        </p:txBody>
      </p:sp>
      <p:sp>
        <p:nvSpPr>
          <p:cNvPr id="33" name="Shape 30"/>
          <p:cNvSpPr/>
          <p:nvPr/>
        </p:nvSpPr>
        <p:spPr>
          <a:xfrm>
            <a:off x="9550400" y="3046729"/>
            <a:ext cx="393700" cy="165100"/>
          </a:xfrm>
          <a:custGeom>
            <a:avLst/>
            <a:gdLst/>
            <a:ahLst/>
            <a:cxnLst/>
            <a:rect l="l" t="t" r="r" b="b"/>
            <a:pathLst>
              <a:path w="393700" h="165100">
                <a:moveTo>
                  <a:pt x="0" y="0"/>
                </a:moveTo>
                <a:lnTo>
                  <a:pt x="368300" y="0"/>
                </a:lnTo>
                <a:arcTo wR="25400" hR="25400" stAng="16200000" swAng="5400000"/>
                <a:lnTo>
                  <a:pt x="393700" y="139700"/>
                </a:lnTo>
                <a:arcTo wR="25400" hR="25400" stAng="0" swAng="5400000"/>
                <a:lnTo>
                  <a:pt x="0" y="165100"/>
                </a:lnTo>
                <a:lnTo>
                  <a:pt x="0" y="0"/>
                </a:lnTo>
                <a:close/>
              </a:path>
            </a:pathLst>
          </a:custGeom>
          <a:solidFill>
            <a:srgbClr val="3987E5"/>
          </a:solidFill>
          <a:ln/>
        </p:spPr>
        <p:txBody>
          <a:bodyPr/>
          <a:lstStyle/>
          <a:p>
            <a:endParaRPr lang="fr-FR"/>
          </a:p>
        </p:txBody>
      </p:sp>
      <p:sp>
        <p:nvSpPr>
          <p:cNvPr id="34" name="Text 31"/>
          <p:cNvSpPr/>
          <p:nvPr/>
        </p:nvSpPr>
        <p:spPr>
          <a:xfrm>
            <a:off x="9994900" y="3022600"/>
            <a:ext cx="48872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0,295</a:t>
            </a:r>
            <a:endParaRPr lang="en-US" sz="1200" dirty="0"/>
          </a:p>
        </p:txBody>
      </p:sp>
      <p:sp>
        <p:nvSpPr>
          <p:cNvPr id="35" name="Shape 32"/>
          <p:cNvSpPr/>
          <p:nvPr/>
        </p:nvSpPr>
        <p:spPr>
          <a:xfrm>
            <a:off x="9550400" y="3285492"/>
            <a:ext cx="469900" cy="165100"/>
          </a:xfrm>
          <a:custGeom>
            <a:avLst/>
            <a:gdLst/>
            <a:ahLst/>
            <a:cxnLst/>
            <a:rect l="l" t="t" r="r" b="b"/>
            <a:pathLst>
              <a:path w="469900" h="165100">
                <a:moveTo>
                  <a:pt x="0" y="0"/>
                </a:moveTo>
                <a:lnTo>
                  <a:pt x="444500" y="0"/>
                </a:lnTo>
                <a:arcTo wR="25400" hR="25400" stAng="16200000" swAng="5400000"/>
                <a:lnTo>
                  <a:pt x="469900" y="139700"/>
                </a:lnTo>
                <a:arcTo wR="25400" hR="25400" stAng="0" swAng="5400000"/>
                <a:lnTo>
                  <a:pt x="0" y="165100"/>
                </a:lnTo>
                <a:lnTo>
                  <a:pt x="0" y="0"/>
                </a:lnTo>
                <a:close/>
              </a:path>
            </a:pathLst>
          </a:custGeom>
          <a:solidFill>
            <a:srgbClr val="0D366B"/>
          </a:solidFill>
          <a:ln/>
        </p:spPr>
        <p:txBody>
          <a:bodyPr/>
          <a:lstStyle/>
          <a:p>
            <a:endParaRPr lang="fr-FR"/>
          </a:p>
        </p:txBody>
      </p:sp>
      <p:sp>
        <p:nvSpPr>
          <p:cNvPr id="36" name="Text 33"/>
          <p:cNvSpPr/>
          <p:nvPr/>
        </p:nvSpPr>
        <p:spPr>
          <a:xfrm>
            <a:off x="10071100" y="3261364"/>
            <a:ext cx="48872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0,350</a:t>
            </a:r>
            <a:endParaRPr lang="en-US" sz="1200" dirty="0"/>
          </a:p>
        </p:txBody>
      </p:sp>
      <p:sp>
        <p:nvSpPr>
          <p:cNvPr id="37" name="Text 34"/>
          <p:cNvSpPr/>
          <p:nvPr/>
        </p:nvSpPr>
        <p:spPr>
          <a:xfrm>
            <a:off x="7701280" y="3474721"/>
            <a:ext cx="190459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V</a:t>
            </a:r>
            <a:endParaRPr lang="en-US" sz="1500" dirty="0"/>
          </a:p>
        </p:txBody>
      </p:sp>
      <p:sp>
        <p:nvSpPr>
          <p:cNvPr id="38" name="Shape 35"/>
          <p:cNvSpPr/>
          <p:nvPr/>
        </p:nvSpPr>
        <p:spPr>
          <a:xfrm>
            <a:off x="7701280" y="3790950"/>
            <a:ext cx="1200150" cy="165100"/>
          </a:xfrm>
          <a:custGeom>
            <a:avLst/>
            <a:gdLst/>
            <a:ahLst/>
            <a:cxnLst/>
            <a:rect l="l" t="t" r="r" b="b"/>
            <a:pathLst>
              <a:path w="1200150" h="165100">
                <a:moveTo>
                  <a:pt x="0" y="0"/>
                </a:moveTo>
                <a:lnTo>
                  <a:pt x="1174750" y="0"/>
                </a:lnTo>
                <a:arcTo wR="25400" hR="25400" stAng="16200000" swAng="5400000"/>
                <a:lnTo>
                  <a:pt x="1200150" y="139700"/>
                </a:lnTo>
                <a:arcTo wR="25400" hR="25400" stAng="0" swAng="5400000"/>
                <a:lnTo>
                  <a:pt x="0" y="165100"/>
                </a:lnTo>
                <a:lnTo>
                  <a:pt x="0" y="0"/>
                </a:lnTo>
                <a:close/>
              </a:path>
            </a:pathLst>
          </a:custGeom>
          <a:solidFill>
            <a:srgbClr val="8A94A6"/>
          </a:solidFill>
          <a:ln/>
        </p:spPr>
        <p:txBody>
          <a:bodyPr/>
          <a:lstStyle/>
          <a:p>
            <a:endParaRPr lang="fr-FR"/>
          </a:p>
        </p:txBody>
      </p:sp>
      <p:sp>
        <p:nvSpPr>
          <p:cNvPr id="39" name="Text 36"/>
          <p:cNvSpPr/>
          <p:nvPr/>
        </p:nvSpPr>
        <p:spPr>
          <a:xfrm>
            <a:off x="8952230" y="3766821"/>
            <a:ext cx="48872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0,901</a:t>
            </a:r>
            <a:endParaRPr lang="en-US" sz="1200" dirty="0"/>
          </a:p>
        </p:txBody>
      </p:sp>
      <p:sp>
        <p:nvSpPr>
          <p:cNvPr id="40" name="Shape 37"/>
          <p:cNvSpPr/>
          <p:nvPr/>
        </p:nvSpPr>
        <p:spPr>
          <a:xfrm>
            <a:off x="7701280" y="4029714"/>
            <a:ext cx="1047750" cy="165100"/>
          </a:xfrm>
          <a:custGeom>
            <a:avLst/>
            <a:gdLst/>
            <a:ahLst/>
            <a:cxnLst/>
            <a:rect l="l" t="t" r="r" b="b"/>
            <a:pathLst>
              <a:path w="1047750" h="165100">
                <a:moveTo>
                  <a:pt x="0" y="0"/>
                </a:moveTo>
                <a:lnTo>
                  <a:pt x="1022350" y="0"/>
                </a:lnTo>
                <a:arcTo wR="25400" hR="25400" stAng="16200000" swAng="5400000"/>
                <a:lnTo>
                  <a:pt x="1047750" y="139700"/>
                </a:lnTo>
                <a:arcTo wR="25400" hR="25400" stAng="0" swAng="5400000"/>
                <a:lnTo>
                  <a:pt x="0" y="165100"/>
                </a:lnTo>
                <a:lnTo>
                  <a:pt x="0" y="0"/>
                </a:lnTo>
                <a:close/>
              </a:path>
            </a:pathLst>
          </a:custGeom>
          <a:solidFill>
            <a:srgbClr val="86B6EF"/>
          </a:solidFill>
          <a:ln/>
        </p:spPr>
        <p:txBody>
          <a:bodyPr/>
          <a:lstStyle/>
          <a:p>
            <a:endParaRPr lang="fr-FR"/>
          </a:p>
        </p:txBody>
      </p:sp>
      <p:sp>
        <p:nvSpPr>
          <p:cNvPr id="41" name="Text 38"/>
          <p:cNvSpPr/>
          <p:nvPr/>
        </p:nvSpPr>
        <p:spPr>
          <a:xfrm>
            <a:off x="8799830" y="4005579"/>
            <a:ext cx="48872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0,784</a:t>
            </a:r>
            <a:endParaRPr lang="en-US" sz="1200" dirty="0"/>
          </a:p>
        </p:txBody>
      </p:sp>
      <p:sp>
        <p:nvSpPr>
          <p:cNvPr id="42" name="Shape 39"/>
          <p:cNvSpPr/>
          <p:nvPr/>
        </p:nvSpPr>
        <p:spPr>
          <a:xfrm>
            <a:off x="7701280" y="4268471"/>
            <a:ext cx="1168400" cy="165100"/>
          </a:xfrm>
          <a:custGeom>
            <a:avLst/>
            <a:gdLst/>
            <a:ahLst/>
            <a:cxnLst/>
            <a:rect l="l" t="t" r="r" b="b"/>
            <a:pathLst>
              <a:path w="1168400" h="165100">
                <a:moveTo>
                  <a:pt x="0" y="0"/>
                </a:moveTo>
                <a:lnTo>
                  <a:pt x="1143000" y="0"/>
                </a:lnTo>
                <a:arcTo wR="25400" hR="25400" stAng="16200000" swAng="5400000"/>
                <a:lnTo>
                  <a:pt x="1168400" y="139700"/>
                </a:lnTo>
                <a:arcTo wR="25400" hR="25400" stAng="0" swAng="5400000"/>
                <a:lnTo>
                  <a:pt x="0" y="165100"/>
                </a:lnTo>
                <a:lnTo>
                  <a:pt x="0" y="0"/>
                </a:lnTo>
                <a:close/>
              </a:path>
            </a:pathLst>
          </a:custGeom>
          <a:solidFill>
            <a:srgbClr val="3987E5"/>
          </a:solidFill>
          <a:ln/>
        </p:spPr>
        <p:txBody>
          <a:bodyPr/>
          <a:lstStyle/>
          <a:p>
            <a:endParaRPr lang="fr-FR"/>
          </a:p>
        </p:txBody>
      </p:sp>
      <p:sp>
        <p:nvSpPr>
          <p:cNvPr id="43" name="Text 40"/>
          <p:cNvSpPr/>
          <p:nvPr/>
        </p:nvSpPr>
        <p:spPr>
          <a:xfrm>
            <a:off x="8920480" y="4244342"/>
            <a:ext cx="48872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0,876</a:t>
            </a:r>
            <a:endParaRPr lang="en-US" sz="1200" dirty="0"/>
          </a:p>
        </p:txBody>
      </p:sp>
      <p:sp>
        <p:nvSpPr>
          <p:cNvPr id="44" name="Shape 41"/>
          <p:cNvSpPr/>
          <p:nvPr/>
        </p:nvSpPr>
        <p:spPr>
          <a:xfrm>
            <a:off x="7701280" y="4507229"/>
            <a:ext cx="1193800" cy="165100"/>
          </a:xfrm>
          <a:custGeom>
            <a:avLst/>
            <a:gdLst/>
            <a:ahLst/>
            <a:cxnLst/>
            <a:rect l="l" t="t" r="r" b="b"/>
            <a:pathLst>
              <a:path w="1193800" h="165100">
                <a:moveTo>
                  <a:pt x="0" y="0"/>
                </a:moveTo>
                <a:lnTo>
                  <a:pt x="1168400" y="0"/>
                </a:lnTo>
                <a:arcTo wR="25400" hR="25400" stAng="16200000" swAng="5400000"/>
                <a:lnTo>
                  <a:pt x="1193800" y="139700"/>
                </a:lnTo>
                <a:arcTo wR="25400" hR="25400" stAng="0" swAng="5400000"/>
                <a:lnTo>
                  <a:pt x="0" y="165100"/>
                </a:lnTo>
                <a:lnTo>
                  <a:pt x="0" y="0"/>
                </a:lnTo>
                <a:close/>
              </a:path>
            </a:pathLst>
          </a:custGeom>
          <a:solidFill>
            <a:srgbClr val="0D366B"/>
          </a:solidFill>
          <a:ln/>
        </p:spPr>
        <p:txBody>
          <a:bodyPr/>
          <a:lstStyle/>
          <a:p>
            <a:endParaRPr lang="fr-FR"/>
          </a:p>
        </p:txBody>
      </p:sp>
      <p:sp>
        <p:nvSpPr>
          <p:cNvPr id="45" name="Text 42"/>
          <p:cNvSpPr/>
          <p:nvPr/>
        </p:nvSpPr>
        <p:spPr>
          <a:xfrm>
            <a:off x="8945880" y="4483100"/>
            <a:ext cx="48872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0,893</a:t>
            </a:r>
            <a:endParaRPr lang="en-US" sz="1200" dirty="0"/>
          </a:p>
        </p:txBody>
      </p:sp>
      <p:sp>
        <p:nvSpPr>
          <p:cNvPr id="46" name="Text 43"/>
          <p:cNvSpPr/>
          <p:nvPr/>
        </p:nvSpPr>
        <p:spPr>
          <a:xfrm>
            <a:off x="9550400" y="3474721"/>
            <a:ext cx="190459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F1B2D"/>
                </a:solidFill>
                <a:latin typeface="IBM Plex Sans" pitchFamily="34" charset="0"/>
                <a:ea typeface="IBM Plex Sans" pitchFamily="34" charset="-122"/>
                <a:cs typeface="IBM Plex Sans" pitchFamily="34" charset="-120"/>
              </a:rPr>
              <a:t>F</a:t>
            </a:r>
            <a:endParaRPr lang="en-US" sz="1500" dirty="0"/>
          </a:p>
        </p:txBody>
      </p:sp>
      <p:sp>
        <p:nvSpPr>
          <p:cNvPr id="47" name="Shape 44"/>
          <p:cNvSpPr/>
          <p:nvPr/>
        </p:nvSpPr>
        <p:spPr>
          <a:xfrm>
            <a:off x="9550400" y="3790950"/>
            <a:ext cx="19050" cy="165100"/>
          </a:xfrm>
          <a:prstGeom prst="rect">
            <a:avLst/>
          </a:prstGeom>
          <a:solidFill>
            <a:srgbClr val="8A94A6"/>
          </a:solidFill>
          <a:ln/>
        </p:spPr>
        <p:txBody>
          <a:bodyPr/>
          <a:lstStyle/>
          <a:p>
            <a:endParaRPr lang="fr-FR"/>
          </a:p>
        </p:txBody>
      </p:sp>
      <p:sp>
        <p:nvSpPr>
          <p:cNvPr id="48" name="Text 45"/>
          <p:cNvSpPr/>
          <p:nvPr/>
        </p:nvSpPr>
        <p:spPr>
          <a:xfrm>
            <a:off x="9620250" y="3766821"/>
            <a:ext cx="48872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0,015</a:t>
            </a:r>
            <a:endParaRPr lang="en-US" sz="1200" dirty="0"/>
          </a:p>
        </p:txBody>
      </p:sp>
      <p:sp>
        <p:nvSpPr>
          <p:cNvPr id="49" name="Shape 46"/>
          <p:cNvSpPr/>
          <p:nvPr/>
        </p:nvSpPr>
        <p:spPr>
          <a:xfrm>
            <a:off x="9550400" y="4029714"/>
            <a:ext cx="12700" cy="165100"/>
          </a:xfrm>
          <a:prstGeom prst="rect">
            <a:avLst/>
          </a:prstGeom>
          <a:solidFill>
            <a:srgbClr val="86B6EF"/>
          </a:solidFill>
          <a:ln/>
        </p:spPr>
        <p:txBody>
          <a:bodyPr/>
          <a:lstStyle/>
          <a:p>
            <a:endParaRPr lang="fr-FR"/>
          </a:p>
        </p:txBody>
      </p:sp>
      <p:sp>
        <p:nvSpPr>
          <p:cNvPr id="50" name="Text 47"/>
          <p:cNvSpPr/>
          <p:nvPr/>
        </p:nvSpPr>
        <p:spPr>
          <a:xfrm>
            <a:off x="9613900" y="4005579"/>
            <a:ext cx="48872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0,001</a:t>
            </a:r>
            <a:endParaRPr lang="en-US" sz="1200" dirty="0"/>
          </a:p>
        </p:txBody>
      </p:sp>
      <p:sp>
        <p:nvSpPr>
          <p:cNvPr id="51" name="Shape 48"/>
          <p:cNvSpPr/>
          <p:nvPr/>
        </p:nvSpPr>
        <p:spPr>
          <a:xfrm>
            <a:off x="9550400" y="4268471"/>
            <a:ext cx="12700" cy="165100"/>
          </a:xfrm>
          <a:prstGeom prst="rect">
            <a:avLst/>
          </a:prstGeom>
          <a:solidFill>
            <a:srgbClr val="3987E5"/>
          </a:solidFill>
          <a:ln/>
        </p:spPr>
        <p:txBody>
          <a:bodyPr/>
          <a:lstStyle/>
          <a:p>
            <a:endParaRPr lang="fr-FR"/>
          </a:p>
        </p:txBody>
      </p:sp>
      <p:sp>
        <p:nvSpPr>
          <p:cNvPr id="52" name="Text 49"/>
          <p:cNvSpPr/>
          <p:nvPr/>
        </p:nvSpPr>
        <p:spPr>
          <a:xfrm>
            <a:off x="9613900" y="4244342"/>
            <a:ext cx="48872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0,004</a:t>
            </a:r>
            <a:endParaRPr lang="en-US" sz="1200" dirty="0"/>
          </a:p>
        </p:txBody>
      </p:sp>
      <p:sp>
        <p:nvSpPr>
          <p:cNvPr id="53" name="Shape 50"/>
          <p:cNvSpPr/>
          <p:nvPr/>
        </p:nvSpPr>
        <p:spPr>
          <a:xfrm>
            <a:off x="9550400" y="4507229"/>
            <a:ext cx="228600" cy="165100"/>
          </a:xfrm>
          <a:custGeom>
            <a:avLst/>
            <a:gdLst/>
            <a:ahLst/>
            <a:cxnLst/>
            <a:rect l="l" t="t" r="r" b="b"/>
            <a:pathLst>
              <a:path w="228600" h="165100">
                <a:moveTo>
                  <a:pt x="0" y="0"/>
                </a:moveTo>
                <a:lnTo>
                  <a:pt x="203200" y="0"/>
                </a:lnTo>
                <a:arcTo wR="25400" hR="25400" stAng="16200000" swAng="5400000"/>
                <a:lnTo>
                  <a:pt x="228600" y="139700"/>
                </a:lnTo>
                <a:arcTo wR="25400" hR="25400" stAng="0" swAng="5400000"/>
                <a:lnTo>
                  <a:pt x="0" y="165100"/>
                </a:lnTo>
                <a:lnTo>
                  <a:pt x="0" y="0"/>
                </a:lnTo>
                <a:close/>
              </a:path>
            </a:pathLst>
          </a:custGeom>
          <a:solidFill>
            <a:srgbClr val="0D366B"/>
          </a:solidFill>
          <a:ln/>
        </p:spPr>
        <p:txBody>
          <a:bodyPr/>
          <a:lstStyle/>
          <a:p>
            <a:endParaRPr lang="fr-FR"/>
          </a:p>
        </p:txBody>
      </p:sp>
      <p:sp>
        <p:nvSpPr>
          <p:cNvPr id="54" name="Text 51"/>
          <p:cNvSpPr/>
          <p:nvPr/>
        </p:nvSpPr>
        <p:spPr>
          <a:xfrm>
            <a:off x="9829800" y="4483100"/>
            <a:ext cx="48872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0,170</a:t>
            </a:r>
            <a:endParaRPr lang="en-US" sz="1200" dirty="0"/>
          </a:p>
        </p:txBody>
      </p:sp>
      <p:sp>
        <p:nvSpPr>
          <p:cNvPr id="55" name="Text 52"/>
          <p:cNvSpPr/>
          <p:nvPr/>
        </p:nvSpPr>
        <p:spPr>
          <a:xfrm>
            <a:off x="609600" y="6365242"/>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79"/>
                </a:solidFill>
                <a:latin typeface="IBM Plex Sans" pitchFamily="34" charset="0"/>
                <a:ea typeface="IBM Plex Sans" pitchFamily="34" charset="-122"/>
                <a:cs typeface="IBM Plex Sans" pitchFamily="34" charset="-120"/>
              </a:rPr>
              <a:t>Classification de séries temporelles ECG · MIT-BIH · résultats intermédiaires</a:t>
            </a:r>
            <a:endParaRPr lang="en-US" sz="1200" dirty="0"/>
          </a:p>
        </p:txBody>
      </p:sp>
      <p:sp>
        <p:nvSpPr>
          <p:cNvPr id="56" name="Text 53"/>
          <p:cNvSpPr/>
          <p:nvPr/>
        </p:nvSpPr>
        <p:spPr>
          <a:xfrm>
            <a:off x="10261600" y="6365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79"/>
                </a:solidFill>
                <a:latin typeface="IBM Plex Sans" pitchFamily="34" charset="0"/>
                <a:ea typeface="IBM Plex Sans" pitchFamily="34" charset="-122"/>
                <a:cs typeface="IBM Plex Sans" pitchFamily="34" charset="-120"/>
              </a:rPr>
              <a:t>9 / 10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a:extLst>
            <a:ext uri="{FF2B5EF4-FFF2-40B4-BE49-F238E27FC236}">
              <a16:creationId xmlns:a16="http://schemas.microsoft.com/office/drawing/2014/main" id="{EF337D2D-B58E-9E3F-9249-2AD28D831BA0}"/>
            </a:ext>
          </a:extLst>
        </p:cNvPr>
        <p:cNvGrpSpPr/>
        <p:nvPr/>
      </p:nvGrpSpPr>
      <p:grpSpPr>
        <a:xfrm>
          <a:off x="0" y="0"/>
          <a:ext cx="0" cy="0"/>
          <a:chOff x="0" y="0"/>
          <a:chExt cx="0" cy="0"/>
        </a:xfrm>
      </p:grpSpPr>
      <p:pic>
        <p:nvPicPr>
          <p:cNvPr id="3" name="Image 0" descr="line">
            <a:extLst>
              <a:ext uri="{FF2B5EF4-FFF2-40B4-BE49-F238E27FC236}">
                <a16:creationId xmlns:a16="http://schemas.microsoft.com/office/drawing/2014/main" id="{0920E7A6-6588-E212-C5A1-4428495CC988}"/>
              </a:ext>
            </a:extLst>
          </p:cNvPr>
          <p:cNvPicPr>
            <a:picLocks noChangeAspect="1"/>
          </p:cNvPicPr>
          <p:nvPr/>
        </p:nvPicPr>
        <p:blipFill>
          <a:blip r:embed="rId3"/>
          <a:srcRect/>
          <a:stretch/>
        </p:blipFill>
        <p:spPr>
          <a:xfrm>
            <a:off x="5201920" y="3976497"/>
            <a:ext cx="1496060" cy="74803"/>
          </a:xfrm>
          <a:prstGeom prst="rect">
            <a:avLst/>
          </a:prstGeom>
        </p:spPr>
      </p:pic>
      <p:sp>
        <p:nvSpPr>
          <p:cNvPr id="4" name="Text 1">
            <a:extLst>
              <a:ext uri="{FF2B5EF4-FFF2-40B4-BE49-F238E27FC236}">
                <a16:creationId xmlns:a16="http://schemas.microsoft.com/office/drawing/2014/main" id="{692F89D5-0FFC-3FCF-3DBD-362A00E1C807}"/>
              </a:ext>
            </a:extLst>
          </p:cNvPr>
          <p:cNvSpPr>
            <a:spLocks noGrp="1"/>
          </p:cNvSpPr>
          <p:nvPr>
            <p:ph type="title"/>
          </p:nvPr>
        </p:nvSpPr>
        <p:spPr>
          <a:xfrm>
            <a:off x="1190625" y="3059430"/>
            <a:ext cx="9810750" cy="1232376"/>
          </a:xfrm>
          <a:prstGeom prst="rect">
            <a:avLst/>
          </a:prstGeom>
          <a:noFill/>
          <a:ln/>
        </p:spPr>
        <p:txBody>
          <a:bodyPr wrap="square" lIns="0" tIns="0" rIns="0" bIns="0" rtlCol="0" anchor="t">
            <a:normAutofit/>
          </a:bodyPr>
          <a:lstStyle/>
          <a:p>
            <a:pPr marL="0" indent="0" algn="l">
              <a:lnSpc>
                <a:spcPts val="4752"/>
              </a:lnSpc>
              <a:buNone/>
            </a:pPr>
            <a:r>
              <a:rPr lang="en-US" sz="4800" b="1" i="0" dirty="0">
                <a:solidFill>
                  <a:srgbClr val="F6F6F2"/>
                </a:solidFill>
                <a:latin typeface="DM Sans" pitchFamily="34" charset="0"/>
                <a:ea typeface="DM Sans" pitchFamily="34" charset="-122"/>
                <a:cs typeface="DM Sans" pitchFamily="34" charset="-120"/>
              </a:rPr>
              <a:t>Merci de </a:t>
            </a:r>
            <a:r>
              <a:rPr lang="en-US" sz="4800" b="1" i="0" dirty="0" err="1">
                <a:solidFill>
                  <a:srgbClr val="F6F6F2"/>
                </a:solidFill>
                <a:latin typeface="DM Sans" pitchFamily="34" charset="0"/>
                <a:ea typeface="DM Sans" pitchFamily="34" charset="-122"/>
                <a:cs typeface="DM Sans" pitchFamily="34" charset="-120"/>
              </a:rPr>
              <a:t>votre</a:t>
            </a:r>
            <a:r>
              <a:rPr lang="en-US" sz="4800" b="1" i="0" dirty="0">
                <a:solidFill>
                  <a:srgbClr val="F6F6F2"/>
                </a:solidFill>
                <a:latin typeface="DM Sans" pitchFamily="34" charset="0"/>
                <a:ea typeface="DM Sans" pitchFamily="34" charset="-122"/>
                <a:cs typeface="DM Sans" pitchFamily="34" charset="-120"/>
              </a:rPr>
              <a:t> aimable attention</a:t>
            </a:r>
            <a:endParaRPr lang="en-US" sz="4800" dirty="0"/>
          </a:p>
        </p:txBody>
      </p:sp>
    </p:spTree>
    <p:extLst>
      <p:ext uri="{BB962C8B-B14F-4D97-AF65-F5344CB8AC3E}">
        <p14:creationId xmlns:p14="http://schemas.microsoft.com/office/powerpoint/2010/main" val="983270274"/>
      </p:ext>
    </p:extLst>
  </p:cSld>
  <p:clrMapOvr>
    <a:masterClrMapping/>
  </p:clrMapOvr>
</p:sld>
</file>

<file path=ppt/theme/theme1.xml><?xml version="1.0" encoding="utf-8"?>
<a:theme xmlns:a="http://schemas.openxmlformats.org/drawingml/2006/main" name="Classification de séries temporelles ECG">
  <a:themeElements>
    <a:clrScheme name="Classification de séries temporelles ECG">
      <a:dk1>
        <a:srgbClr val="0F1B2D"/>
      </a:dk1>
      <a:lt1>
        <a:srgbClr val="F6F6F2"/>
      </a:lt1>
      <a:dk2>
        <a:srgbClr val="49525E"/>
      </a:dk2>
      <a:lt2>
        <a:srgbClr val="DFE0DE"/>
      </a:lt2>
      <a:accent1>
        <a:srgbClr val="1F5FB0"/>
      </a:accent1>
      <a:accent2>
        <a:srgbClr val="B8431A"/>
      </a:accent2>
      <a:accent3>
        <a:srgbClr val="86B6EF"/>
      </a:accent3>
      <a:accent4>
        <a:srgbClr val="3987E5"/>
      </a:accent4>
      <a:accent5>
        <a:srgbClr val="0D366B"/>
      </a:accent5>
      <a:accent6>
        <a:srgbClr val="7DB2F2"/>
      </a:accent6>
      <a:hlink>
        <a:srgbClr val="0563C1"/>
      </a:hlink>
      <a:folHlink>
        <a:srgbClr val="954F72"/>
      </a:folHlink>
    </a:clrScheme>
    <a:fontScheme name="Classification de séries temporelles ECG">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TotalTime>
  <Words>4950</Words>
  <Application>Microsoft Office PowerPoint</Application>
  <PresentationFormat>Grand écran</PresentationFormat>
  <Paragraphs>251</Paragraphs>
  <Slides>10</Slides>
  <Notes>10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10</vt:i4>
      </vt:variant>
    </vt:vector>
  </HeadingPairs>
  <TitlesOfParts>
    <vt:vector size="14" baseType="lpstr">
      <vt:lpstr>Arial</vt:lpstr>
      <vt:lpstr>DM Sans</vt:lpstr>
      <vt:lpstr>IBM Plex Sans</vt:lpstr>
      <vt:lpstr>Classification de séries temporelles ECG</vt:lpstr>
      <vt:lpstr>Classification de séries temporelles médicales</vt:lpstr>
      <vt:lpstr>Des données déséquilibrées, évaluées patient par patient</vt:lpstr>
      <vt:lpstr>La forme distingue V, le rythme distingue S</vt:lpstr>
      <vt:lpstr>Quatre modèles, une limite corrigée à chaque étape</vt:lpstr>
      <vt:lpstr>Random Forest : un plancher de référence</vt:lpstr>
      <vt:lpstr>CNN 1D : la forme seule ne suffit pas</vt:lpstr>
      <vt:lpstr>CNN + branche rythme : S devient détectable</vt:lpstr>
      <vt:lpstr>CNN-LSTM avec attention : le contexte de 9 battements</vt:lpstr>
      <vt:lpstr>Le CNN-LSTM est le meilleur, avec des compromis</vt:lpstr>
      <vt:lpstr>Merci de votre aimable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Classification de séries temporelles ECG</dc:title>
  <dc:subject/>
  <dc:creator/>
  <cp:lastModifiedBy>Steve Mboda Nguenang</cp:lastModifiedBy>
  <cp:revision>4</cp:revision>
  <dcterms:created xsi:type="dcterms:W3CDTF">2026-10-15T11:26:20Z</dcterms:created>
  <dcterms:modified xsi:type="dcterms:W3CDTF">2026-10-15T12:15:28Z</dcterms:modified>
</cp:coreProperties>
</file>